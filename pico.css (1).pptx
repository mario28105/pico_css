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Poppins" panose="020B0604020202020204" charset="0"/>
      <p:regular r:id="rId12"/>
    </p:embeddedFont>
    <p:embeddedFont>
      <p:font typeface="Open Sans Bold" panose="020B0604020202020204" charset="0"/>
      <p:regular r:id="rId13"/>
    </p:embeddedFont>
    <p:embeddedFont>
      <p:font typeface="Cocomat Pro Bold" panose="020B0604020202020204" charset="0"/>
      <p:regular r:id="rId14"/>
    </p:embeddedFont>
    <p:embeddedFont>
      <p:font typeface="Open Sans Italics" panose="020B0604020202020204" charset="0"/>
      <p:regular r:id="rId15"/>
    </p:embeddedFont>
    <p:embeddedFont>
      <p:font typeface="Open Sans Bold Italics" panose="020B0604020202020204" charset="0"/>
      <p:regular r:id="rId16"/>
    </p:embeddedFont>
    <p:embeddedFont>
      <p:font typeface="Calibri" panose="020F0502020204030204" pitchFamily="34" charset="0"/>
      <p:regular r:id="rId17"/>
      <p:bold r:id="rId18"/>
      <p:italic r:id="rId19"/>
      <p:boldItalic r:id="rId20"/>
    </p:embeddedFont>
    <p:embeddedFont>
      <p:font typeface="Open San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DDEA"/>
        </a:solidFill>
        <a:effectLst/>
      </p:bgPr>
    </p:bg>
    <p:spTree>
      <p:nvGrpSpPr>
        <p:cNvPr id="1" name=""/>
        <p:cNvGrpSpPr/>
        <p:nvPr/>
      </p:nvGrpSpPr>
      <p:grpSpPr>
        <a:xfrm>
          <a:off x="0" y="0"/>
          <a:ext cx="0" cy="0"/>
          <a:chOff x="0" y="0"/>
          <a:chExt cx="0" cy="0"/>
        </a:xfrm>
      </p:grpSpPr>
      <p:sp>
        <p:nvSpPr>
          <p:cNvPr id="2" name="AutoShape 2"/>
          <p:cNvSpPr/>
          <p:nvPr/>
        </p:nvSpPr>
        <p:spPr>
          <a:xfrm>
            <a:off x="7105135" y="2330399"/>
            <a:ext cx="11182865" cy="0"/>
          </a:xfrm>
          <a:prstGeom prst="line">
            <a:avLst/>
          </a:prstGeom>
          <a:ln w="47625" cap="flat">
            <a:solidFill>
              <a:srgbClr val="000000"/>
            </a:solidFill>
            <a:prstDash val="solid"/>
            <a:headEnd type="none" w="sm" len="sm"/>
            <a:tailEnd type="none" w="sm" len="sm"/>
          </a:ln>
        </p:spPr>
      </p:sp>
      <p:sp>
        <p:nvSpPr>
          <p:cNvPr id="3" name="AutoShape 3"/>
          <p:cNvSpPr/>
          <p:nvPr/>
        </p:nvSpPr>
        <p:spPr>
          <a:xfrm>
            <a:off x="0" y="8299004"/>
            <a:ext cx="11182865" cy="0"/>
          </a:xfrm>
          <a:prstGeom prst="line">
            <a:avLst/>
          </a:prstGeom>
          <a:ln w="47625" cap="flat">
            <a:solidFill>
              <a:srgbClr val="000000"/>
            </a:solidFill>
            <a:prstDash val="solid"/>
            <a:headEnd type="none" w="sm" len="sm"/>
            <a:tailEnd type="none" w="sm" len="sm"/>
          </a:ln>
        </p:spPr>
      </p:sp>
      <p:sp>
        <p:nvSpPr>
          <p:cNvPr id="4" name="TextBox 4"/>
          <p:cNvSpPr txBox="1"/>
          <p:nvPr/>
        </p:nvSpPr>
        <p:spPr>
          <a:xfrm rot="-13769">
            <a:off x="2210463" y="2159912"/>
            <a:ext cx="4785284" cy="340974"/>
          </a:xfrm>
          <a:prstGeom prst="rect">
            <a:avLst/>
          </a:prstGeom>
        </p:spPr>
        <p:txBody>
          <a:bodyPr lIns="0" tIns="0" rIns="0" bIns="0" rtlCol="0" anchor="t">
            <a:spAutoFit/>
          </a:bodyPr>
          <a:lstStyle/>
          <a:p>
            <a:pPr algn="r">
              <a:lnSpc>
                <a:spcPts val="2795"/>
              </a:lnSpc>
            </a:pPr>
            <a:r>
              <a:rPr lang="en-US" sz="2254" b="1" spc="446">
                <a:solidFill>
                  <a:srgbClr val="000000"/>
                </a:solidFill>
                <a:latin typeface="Open Sans Bold"/>
                <a:ea typeface="Open Sans Bold"/>
                <a:cs typeface="Open Sans Bold"/>
                <a:sym typeface="Open Sans Bold"/>
              </a:rPr>
              <a:t>EXPOSEE </a:t>
            </a:r>
          </a:p>
        </p:txBody>
      </p:sp>
      <p:sp>
        <p:nvSpPr>
          <p:cNvPr id="5" name="TextBox 5"/>
          <p:cNvSpPr txBox="1"/>
          <p:nvPr/>
        </p:nvSpPr>
        <p:spPr>
          <a:xfrm>
            <a:off x="2467925" y="4915358"/>
            <a:ext cx="7701946" cy="1425573"/>
          </a:xfrm>
          <a:prstGeom prst="rect">
            <a:avLst/>
          </a:prstGeom>
        </p:spPr>
        <p:txBody>
          <a:bodyPr lIns="0" tIns="0" rIns="0" bIns="0" rtlCol="0" anchor="t">
            <a:spAutoFit/>
          </a:bodyPr>
          <a:lstStyle/>
          <a:p>
            <a:pPr algn="l">
              <a:lnSpc>
                <a:spcPts val="9879"/>
              </a:lnSpc>
            </a:pPr>
            <a:r>
              <a:rPr lang="en-US" sz="10399" spc="-51">
                <a:solidFill>
                  <a:srgbClr val="010101"/>
                </a:solidFill>
                <a:latin typeface="Poppins"/>
                <a:ea typeface="Poppins"/>
                <a:cs typeface="Poppins"/>
                <a:sym typeface="Poppins"/>
              </a:rPr>
              <a:t>PICO.CSS</a:t>
            </a:r>
          </a:p>
        </p:txBody>
      </p:sp>
      <p:sp>
        <p:nvSpPr>
          <p:cNvPr id="6" name="TextBox 6"/>
          <p:cNvSpPr txBox="1"/>
          <p:nvPr/>
        </p:nvSpPr>
        <p:spPr>
          <a:xfrm rot="-13769">
            <a:off x="10897272" y="8128517"/>
            <a:ext cx="2322354" cy="340974"/>
          </a:xfrm>
          <a:prstGeom prst="rect">
            <a:avLst/>
          </a:prstGeom>
        </p:spPr>
        <p:txBody>
          <a:bodyPr lIns="0" tIns="0" rIns="0" bIns="0" rtlCol="0" anchor="t">
            <a:spAutoFit/>
          </a:bodyPr>
          <a:lstStyle/>
          <a:p>
            <a:pPr algn="r">
              <a:lnSpc>
                <a:spcPts val="2795"/>
              </a:lnSpc>
            </a:pPr>
            <a:r>
              <a:rPr lang="en-US" sz="2254" b="1" spc="446" dirty="0">
                <a:solidFill>
                  <a:srgbClr val="000000"/>
                </a:solidFill>
                <a:latin typeface="Open Sans Bold"/>
                <a:ea typeface="Open Sans Bold"/>
                <a:cs typeface="Open Sans Bold"/>
                <a:sym typeface="Open Sans Bold"/>
              </a:rPr>
              <a:t>2025/2026</a:t>
            </a:r>
          </a:p>
        </p:txBody>
      </p:sp>
      <p:sp>
        <p:nvSpPr>
          <p:cNvPr id="7" name="TextBox 7"/>
          <p:cNvSpPr txBox="1"/>
          <p:nvPr/>
        </p:nvSpPr>
        <p:spPr>
          <a:xfrm rot="-13769">
            <a:off x="12334258" y="8134457"/>
            <a:ext cx="5292235" cy="2335425"/>
          </a:xfrm>
          <a:prstGeom prst="rect">
            <a:avLst/>
          </a:prstGeom>
        </p:spPr>
        <p:txBody>
          <a:bodyPr lIns="0" tIns="0" rIns="0" bIns="0" rtlCol="0" anchor="t">
            <a:spAutoFit/>
          </a:bodyPr>
          <a:lstStyle/>
          <a:p>
            <a:pPr algn="r">
              <a:lnSpc>
                <a:spcPts val="3091"/>
              </a:lnSpc>
            </a:pPr>
            <a:r>
              <a:rPr lang="en-US" sz="2492" b="1" spc="493">
                <a:solidFill>
                  <a:srgbClr val="000000"/>
                </a:solidFill>
                <a:latin typeface="Open Sans Bold"/>
                <a:ea typeface="Open Sans Bold"/>
                <a:cs typeface="Open Sans Bold"/>
                <a:sym typeface="Open Sans Bold"/>
              </a:rPr>
              <a:t>PRÉSENTÉ PAR:</a:t>
            </a:r>
          </a:p>
          <a:p>
            <a:pPr algn="r">
              <a:lnSpc>
                <a:spcPts val="3091"/>
              </a:lnSpc>
            </a:pPr>
            <a:r>
              <a:rPr lang="en-US" sz="2492" b="1" spc="493">
                <a:solidFill>
                  <a:srgbClr val="000000"/>
                </a:solidFill>
                <a:latin typeface="Open Sans Bold"/>
                <a:ea typeface="Open Sans Bold"/>
                <a:cs typeface="Open Sans Bold"/>
                <a:sym typeface="Open Sans Bold"/>
              </a:rPr>
              <a:t>MARIO</a:t>
            </a:r>
          </a:p>
          <a:p>
            <a:pPr algn="r">
              <a:lnSpc>
                <a:spcPts val="3091"/>
              </a:lnSpc>
            </a:pPr>
            <a:r>
              <a:rPr lang="en-US" sz="2492" b="1" spc="493">
                <a:solidFill>
                  <a:srgbClr val="000000"/>
                </a:solidFill>
                <a:latin typeface="Open Sans Bold"/>
                <a:ea typeface="Open Sans Bold"/>
                <a:cs typeface="Open Sans Bold"/>
                <a:sym typeface="Open Sans Bold"/>
              </a:rPr>
              <a:t>MEDDY</a:t>
            </a:r>
          </a:p>
          <a:p>
            <a:pPr algn="r">
              <a:lnSpc>
                <a:spcPts val="3091"/>
              </a:lnSpc>
            </a:pPr>
            <a:r>
              <a:rPr lang="en-US" sz="2492" b="1" spc="493">
                <a:solidFill>
                  <a:srgbClr val="000000"/>
                </a:solidFill>
                <a:latin typeface="Open Sans Bold"/>
                <a:ea typeface="Open Sans Bold"/>
                <a:cs typeface="Open Sans Bold"/>
                <a:sym typeface="Open Sans Bold"/>
              </a:rPr>
              <a:t>RANDJA</a:t>
            </a:r>
          </a:p>
          <a:p>
            <a:pPr algn="r">
              <a:lnSpc>
                <a:spcPts val="3091"/>
              </a:lnSpc>
            </a:pPr>
            <a:r>
              <a:rPr lang="en-US" sz="2492" b="1" spc="493">
                <a:solidFill>
                  <a:srgbClr val="000000"/>
                </a:solidFill>
                <a:latin typeface="Open Sans Bold"/>
                <a:ea typeface="Open Sans Bold"/>
                <a:cs typeface="Open Sans Bold"/>
                <a:sym typeface="Open Sans Bold"/>
              </a:rPr>
              <a:t>TSANTA</a:t>
            </a:r>
          </a:p>
          <a:p>
            <a:pPr algn="r">
              <a:lnSpc>
                <a:spcPts val="3091"/>
              </a:lnSpc>
            </a:pPr>
            <a:r>
              <a:rPr lang="en-US" sz="2492" b="1" spc="493">
                <a:solidFill>
                  <a:srgbClr val="000000"/>
                </a:solidFill>
                <a:latin typeface="Open Sans Bold"/>
                <a:ea typeface="Open Sans Bold"/>
                <a:cs typeface="Open Sans Bold"/>
                <a:sym typeface="Open Sans Bold"/>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AutoShape 2"/>
          <p:cNvSpPr/>
          <p:nvPr/>
        </p:nvSpPr>
        <p:spPr>
          <a:xfrm>
            <a:off x="0" y="1104900"/>
            <a:ext cx="9405751" cy="0"/>
          </a:xfrm>
          <a:prstGeom prst="line">
            <a:avLst/>
          </a:prstGeom>
          <a:ln w="38100" cap="flat">
            <a:solidFill>
              <a:srgbClr val="000000"/>
            </a:solidFill>
            <a:prstDash val="solid"/>
            <a:headEnd type="none" w="sm" len="sm"/>
            <a:tailEnd type="none" w="sm" len="sm"/>
          </a:ln>
        </p:spPr>
      </p:sp>
      <p:grpSp>
        <p:nvGrpSpPr>
          <p:cNvPr id="3" name="Group 3"/>
          <p:cNvGrpSpPr>
            <a:grpSpLocks noChangeAspect="1"/>
          </p:cNvGrpSpPr>
          <p:nvPr/>
        </p:nvGrpSpPr>
        <p:grpSpPr>
          <a:xfrm>
            <a:off x="12217631" y="210270"/>
            <a:ext cx="6546222" cy="3754834"/>
            <a:chOff x="0" y="0"/>
            <a:chExt cx="7981950" cy="4578350"/>
          </a:xfrm>
        </p:grpSpPr>
        <p:sp>
          <p:nvSpPr>
            <p:cNvPr id="4" name="Freeform 4"/>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5" name="Freeform 5"/>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6" name="Freeform 6"/>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7" name="Freeform 7"/>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8" name="Freeform 8"/>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2"/>
              <a:stretch>
                <a:fillRect l="-16334" r="-16334"/>
              </a:stretch>
            </a:blipFill>
          </p:spPr>
        </p:sp>
      </p:grpSp>
      <p:sp>
        <p:nvSpPr>
          <p:cNvPr id="9" name="TextBox 9"/>
          <p:cNvSpPr txBox="1"/>
          <p:nvPr/>
        </p:nvSpPr>
        <p:spPr>
          <a:xfrm>
            <a:off x="582950" y="1438275"/>
            <a:ext cx="11081260" cy="4693689"/>
          </a:xfrm>
          <a:prstGeom prst="rect">
            <a:avLst/>
          </a:prstGeom>
        </p:spPr>
        <p:txBody>
          <a:bodyPr lIns="0" tIns="0" rIns="0" bIns="0" rtlCol="0" anchor="t">
            <a:spAutoFit/>
          </a:bodyPr>
          <a:lstStyle/>
          <a:p>
            <a:pPr algn="just">
              <a:lnSpc>
                <a:spcPts val="3667"/>
              </a:lnSpc>
            </a:pPr>
            <a:endParaRPr/>
          </a:p>
          <a:p>
            <a:pPr algn="just">
              <a:lnSpc>
                <a:spcPts val="3359"/>
              </a:lnSpc>
            </a:pPr>
            <a:r>
              <a:rPr lang="en-US" sz="2099" spc="18">
                <a:solidFill>
                  <a:srgbClr val="000000"/>
                </a:solidFill>
                <a:latin typeface="Open Sans"/>
                <a:ea typeface="Open Sans"/>
                <a:cs typeface="Open Sans"/>
                <a:sym typeface="Open Sans"/>
              </a:rPr>
              <a:t>   Crée par un développeur web Français Lucas Larroque.</a:t>
            </a:r>
          </a:p>
          <a:p>
            <a:pPr algn="just">
              <a:lnSpc>
                <a:spcPts val="3359"/>
              </a:lnSpc>
            </a:pPr>
            <a:r>
              <a:rPr lang="en-US" sz="2099" spc="18">
                <a:solidFill>
                  <a:srgbClr val="000000"/>
                </a:solidFill>
                <a:latin typeface="Open Sans"/>
                <a:ea typeface="Open Sans"/>
                <a:cs typeface="Open Sans"/>
                <a:sym typeface="Open Sans"/>
              </a:rPr>
              <a:t>    •Pico.css est un micro-Framework CSS moderne, minimaliste et élégant.              Contrairement aux gros frameworks comme Bootstrap ou Tailwind, Pico.css se concentre sur la simplicité, la légèreté et une apparence par défaut soignée sans nécessiter de classes complexes.</a:t>
            </a:r>
          </a:p>
          <a:p>
            <a:pPr algn="just">
              <a:lnSpc>
                <a:spcPts val="3359"/>
              </a:lnSpc>
            </a:pPr>
            <a:r>
              <a:rPr lang="en-US" sz="2099" spc="18">
                <a:solidFill>
                  <a:srgbClr val="000000"/>
                </a:solidFill>
                <a:latin typeface="Open Sans"/>
                <a:ea typeface="Open Sans"/>
                <a:cs typeface="Open Sans"/>
                <a:sym typeface="Open Sans"/>
              </a:rPr>
              <a:t>    •L’objectif principal de Pico.css est de permettre aux développeurs de créer rapidement des sites web propres et cohérents, tout en conservant un contrôle total sur la structure HTML.</a:t>
            </a:r>
          </a:p>
          <a:p>
            <a:pPr algn="just">
              <a:lnSpc>
                <a:spcPts val="3667"/>
              </a:lnSpc>
            </a:pPr>
            <a:endParaRPr lang="en-US" sz="2099" spc="18">
              <a:solidFill>
                <a:srgbClr val="000000"/>
              </a:solidFill>
              <a:latin typeface="Open Sans"/>
              <a:ea typeface="Open Sans"/>
              <a:cs typeface="Open Sans"/>
              <a:sym typeface="Open Sans"/>
            </a:endParaRPr>
          </a:p>
          <a:p>
            <a:pPr algn="just">
              <a:lnSpc>
                <a:spcPts val="3667"/>
              </a:lnSpc>
            </a:pPr>
            <a:endParaRPr lang="en-US" sz="2099" spc="18">
              <a:solidFill>
                <a:srgbClr val="000000"/>
              </a:solidFill>
              <a:latin typeface="Open Sans"/>
              <a:ea typeface="Open Sans"/>
              <a:cs typeface="Open Sans"/>
              <a:sym typeface="Open Sans"/>
            </a:endParaRPr>
          </a:p>
        </p:txBody>
      </p:sp>
      <p:sp>
        <p:nvSpPr>
          <p:cNvPr id="10" name="TextBox 10"/>
          <p:cNvSpPr txBox="1"/>
          <p:nvPr/>
        </p:nvSpPr>
        <p:spPr>
          <a:xfrm>
            <a:off x="12997720" y="6122146"/>
            <a:ext cx="4979806" cy="3642043"/>
          </a:xfrm>
          <a:prstGeom prst="rect">
            <a:avLst/>
          </a:prstGeom>
        </p:spPr>
        <p:txBody>
          <a:bodyPr lIns="0" tIns="0" rIns="0" bIns="0" rtlCol="0" anchor="t">
            <a:spAutoFit/>
          </a:bodyPr>
          <a:lstStyle/>
          <a:p>
            <a:pPr algn="just">
              <a:lnSpc>
                <a:spcPts val="4614"/>
              </a:lnSpc>
            </a:pPr>
            <a:r>
              <a:rPr lang="en-US" sz="2883" i="1" spc="25">
                <a:solidFill>
                  <a:srgbClr val="000000"/>
                </a:solidFill>
                <a:latin typeface="Open Sans Italics"/>
                <a:ea typeface="Open Sans Italics"/>
                <a:cs typeface="Open Sans Italics"/>
                <a:sym typeface="Open Sans Italics"/>
              </a:rPr>
              <a:t> </a:t>
            </a:r>
            <a:r>
              <a:rPr lang="en-US" sz="2883" b="1" i="1" spc="25">
                <a:solidFill>
                  <a:srgbClr val="233061"/>
                </a:solidFill>
                <a:latin typeface="Open Sans Bold Italics"/>
                <a:ea typeface="Open Sans Bold Italics"/>
                <a:cs typeface="Open Sans Bold Italics"/>
                <a:sym typeface="Open Sans Bold Italics"/>
              </a:rPr>
              <a:t>🔍</a:t>
            </a:r>
            <a:r>
              <a:rPr lang="en-US" sz="2883" b="1" i="1" spc="25">
                <a:gradFill>
                  <a:gsLst>
                    <a:gs pos="0">
                      <a:srgbClr val="000000">
                        <a:alpha val="100000"/>
                      </a:srgbClr>
                    </a:gs>
                    <a:gs pos="100000">
                      <a:srgbClr val="3533CD">
                        <a:alpha val="100000"/>
                      </a:srgbClr>
                    </a:gs>
                  </a:gsLst>
                  <a:lin ang="0"/>
                </a:gradFill>
                <a:latin typeface="Open Sans Bold Italics"/>
                <a:ea typeface="Open Sans Bold Italics"/>
                <a:cs typeface="Open Sans Bold Italics"/>
                <a:sym typeface="Open Sans Bold Italics"/>
              </a:rPr>
              <a:t>Caractéristiques clés</a:t>
            </a:r>
          </a:p>
          <a:p>
            <a:pPr algn="just">
              <a:lnSpc>
                <a:spcPts val="4114"/>
              </a:lnSpc>
            </a:pPr>
            <a:r>
              <a:rPr lang="en-US" sz="2571" i="1" spc="23">
                <a:solidFill>
                  <a:srgbClr val="000000"/>
                </a:solidFill>
                <a:latin typeface="Open Sans Italics"/>
                <a:ea typeface="Open Sans Italics"/>
                <a:cs typeface="Open Sans Italics"/>
                <a:sym typeface="Open Sans Italics"/>
              </a:rPr>
              <a:t>→ Minimaliste</a:t>
            </a:r>
          </a:p>
          <a:p>
            <a:pPr algn="just">
              <a:lnSpc>
                <a:spcPts val="4301"/>
              </a:lnSpc>
            </a:pPr>
            <a:r>
              <a:rPr lang="en-US" sz="2688" i="1" spc="24">
                <a:solidFill>
                  <a:srgbClr val="000000"/>
                </a:solidFill>
                <a:latin typeface="Open Sans Italics"/>
                <a:ea typeface="Open Sans Italics"/>
                <a:cs typeface="Open Sans Italics"/>
                <a:sym typeface="Open Sans Italics"/>
              </a:rPr>
              <a:t>→ Leger</a:t>
            </a:r>
          </a:p>
          <a:p>
            <a:pPr algn="just">
              <a:lnSpc>
                <a:spcPts val="4301"/>
              </a:lnSpc>
            </a:pPr>
            <a:r>
              <a:rPr lang="en-US" sz="2688" i="1" spc="24">
                <a:solidFill>
                  <a:srgbClr val="000000"/>
                </a:solidFill>
                <a:latin typeface="Open Sans Italics"/>
                <a:ea typeface="Open Sans Italics"/>
                <a:cs typeface="Open Sans Italics"/>
                <a:sym typeface="Open Sans Italics"/>
              </a:rPr>
              <a:t>→ Responsive</a:t>
            </a:r>
          </a:p>
          <a:p>
            <a:pPr algn="just">
              <a:lnSpc>
                <a:spcPts val="4301"/>
              </a:lnSpc>
            </a:pPr>
            <a:r>
              <a:rPr lang="en-US" sz="2688" i="1" spc="24">
                <a:solidFill>
                  <a:srgbClr val="000000"/>
                </a:solidFill>
                <a:latin typeface="Open Sans Italics"/>
                <a:ea typeface="Open Sans Italics"/>
                <a:cs typeface="Open Sans Italics"/>
                <a:sym typeface="Open Sans Italics"/>
              </a:rPr>
              <a:t>→ Personnalisations faciles</a:t>
            </a:r>
          </a:p>
          <a:p>
            <a:pPr algn="just">
              <a:lnSpc>
                <a:spcPts val="3740"/>
              </a:lnSpc>
            </a:pPr>
            <a:endParaRPr lang="en-US" sz="2688" i="1" spc="24">
              <a:solidFill>
                <a:srgbClr val="000000"/>
              </a:solidFill>
              <a:latin typeface="Open Sans Italics"/>
              <a:ea typeface="Open Sans Italics"/>
              <a:cs typeface="Open Sans Italics"/>
              <a:sym typeface="Open Sans Italics"/>
            </a:endParaRPr>
          </a:p>
          <a:p>
            <a:pPr algn="just">
              <a:lnSpc>
                <a:spcPts val="3740"/>
              </a:lnSpc>
            </a:pPr>
            <a:endParaRPr lang="en-US" sz="2688" i="1" spc="24">
              <a:solidFill>
                <a:srgbClr val="000000"/>
              </a:solidFill>
              <a:latin typeface="Open Sans Italics"/>
              <a:ea typeface="Open Sans Italics"/>
              <a:cs typeface="Open Sans Italics"/>
              <a:sym typeface="Open Sans Italics"/>
            </a:endParaRPr>
          </a:p>
        </p:txBody>
      </p:sp>
      <p:sp>
        <p:nvSpPr>
          <p:cNvPr id="11" name="TextBox 11"/>
          <p:cNvSpPr txBox="1"/>
          <p:nvPr/>
        </p:nvSpPr>
        <p:spPr>
          <a:xfrm>
            <a:off x="1621248" y="210270"/>
            <a:ext cx="3349066" cy="730012"/>
          </a:xfrm>
          <a:prstGeom prst="rect">
            <a:avLst/>
          </a:prstGeom>
        </p:spPr>
        <p:txBody>
          <a:bodyPr lIns="0" tIns="0" rIns="0" bIns="0" rtlCol="0" anchor="t">
            <a:spAutoFit/>
          </a:bodyPr>
          <a:lstStyle/>
          <a:p>
            <a:pPr algn="l">
              <a:lnSpc>
                <a:spcPts val="2897"/>
              </a:lnSpc>
            </a:pPr>
            <a:r>
              <a:rPr lang="en-US" sz="2455" b="1" spc="-49">
                <a:solidFill>
                  <a:srgbClr val="FF3131"/>
                </a:solidFill>
                <a:latin typeface="Cocomat Pro Bold"/>
                <a:ea typeface="Cocomat Pro Bold"/>
                <a:cs typeface="Cocomat Pro Bold"/>
                <a:sym typeface="Cocomat Pro Bold"/>
              </a:rPr>
              <a:t>INTRODUCTION ET</a:t>
            </a:r>
          </a:p>
          <a:p>
            <a:pPr marL="0" lvl="0" indent="0" algn="l">
              <a:lnSpc>
                <a:spcPts val="2781"/>
              </a:lnSpc>
            </a:pPr>
            <a:r>
              <a:rPr lang="en-US" sz="2357" b="1" spc="-47">
                <a:solidFill>
                  <a:srgbClr val="FF3131"/>
                </a:solidFill>
                <a:latin typeface="Cocomat Pro Bold"/>
                <a:ea typeface="Cocomat Pro Bold"/>
                <a:cs typeface="Cocomat Pro Bold"/>
                <a:sym typeface="Cocomat Pro Bold"/>
              </a:rPr>
              <a:t>DEFINITION</a:t>
            </a:r>
          </a:p>
        </p:txBody>
      </p:sp>
      <p:sp>
        <p:nvSpPr>
          <p:cNvPr id="12" name="TextBox 12"/>
          <p:cNvSpPr txBox="1"/>
          <p:nvPr/>
        </p:nvSpPr>
        <p:spPr>
          <a:xfrm>
            <a:off x="1279873" y="200745"/>
            <a:ext cx="341374" cy="368046"/>
          </a:xfrm>
          <a:prstGeom prst="rect">
            <a:avLst/>
          </a:prstGeom>
        </p:spPr>
        <p:txBody>
          <a:bodyPr lIns="0" tIns="0" rIns="0" bIns="0" rtlCol="0" anchor="t">
            <a:spAutoFit/>
          </a:bodyPr>
          <a:lstStyle/>
          <a:p>
            <a:pPr marL="0" lvl="0" indent="0" algn="l">
              <a:lnSpc>
                <a:spcPts val="2832"/>
              </a:lnSpc>
            </a:pPr>
            <a:r>
              <a:rPr lang="en-US" sz="2400" b="1" spc="-48">
                <a:solidFill>
                  <a:srgbClr val="FF3131"/>
                </a:solidFill>
                <a:latin typeface="Cocomat Pro Bold"/>
                <a:ea typeface="Cocomat Pro Bold"/>
                <a:cs typeface="Cocomat Pro Bold"/>
                <a:sym typeface="Cocomat Pro Bold"/>
              </a:rPr>
              <a:t>1.</a:t>
            </a:r>
          </a:p>
        </p:txBody>
      </p:sp>
      <p:sp>
        <p:nvSpPr>
          <p:cNvPr id="13" name="TextBox 13"/>
          <p:cNvSpPr txBox="1"/>
          <p:nvPr/>
        </p:nvSpPr>
        <p:spPr>
          <a:xfrm>
            <a:off x="17622141" y="9766835"/>
            <a:ext cx="355385" cy="261712"/>
          </a:xfrm>
          <a:prstGeom prst="rect">
            <a:avLst/>
          </a:prstGeom>
        </p:spPr>
        <p:txBody>
          <a:bodyPr lIns="0" tIns="0" rIns="0" bIns="0" rtlCol="0" anchor="t">
            <a:spAutoFit/>
          </a:bodyPr>
          <a:lstStyle/>
          <a:p>
            <a:pPr algn="r">
              <a:lnSpc>
                <a:spcPts val="2237"/>
              </a:lnSpc>
            </a:pPr>
            <a:r>
              <a:rPr lang="en-US" sz="1242" b="1" spc="11">
                <a:solidFill>
                  <a:srgbClr val="010101"/>
                </a:solidFill>
                <a:latin typeface="Open Sans Bold"/>
                <a:ea typeface="Open Sans Bold"/>
                <a:cs typeface="Open Sans Bold"/>
                <a:sym typeface="Open Sans Bold"/>
              </a:rPr>
              <a:t>3</a:t>
            </a:r>
          </a:p>
        </p:txBody>
      </p:sp>
      <p:sp>
        <p:nvSpPr>
          <p:cNvPr id="14" name="TextBox 14"/>
          <p:cNvSpPr txBox="1"/>
          <p:nvPr/>
        </p:nvSpPr>
        <p:spPr>
          <a:xfrm>
            <a:off x="582950" y="5057775"/>
            <a:ext cx="11634680" cy="3471752"/>
          </a:xfrm>
          <a:prstGeom prst="rect">
            <a:avLst/>
          </a:prstGeom>
        </p:spPr>
        <p:txBody>
          <a:bodyPr lIns="0" tIns="0" rIns="0" bIns="0" rtlCol="0" anchor="t">
            <a:spAutoFit/>
          </a:bodyPr>
          <a:lstStyle/>
          <a:p>
            <a:pPr algn="l">
              <a:lnSpc>
                <a:spcPts val="3933"/>
              </a:lnSpc>
            </a:pPr>
            <a:endParaRPr/>
          </a:p>
          <a:p>
            <a:pPr algn="l">
              <a:lnSpc>
                <a:spcPts val="3453"/>
              </a:lnSpc>
            </a:pPr>
            <a:r>
              <a:rPr lang="en-US" sz="2158" b="1" spc="19">
                <a:solidFill>
                  <a:srgbClr val="000000"/>
                </a:solidFill>
                <a:latin typeface="Open Sans Bold"/>
                <a:ea typeface="Open Sans Bold"/>
                <a:cs typeface="Open Sans Bold"/>
                <a:sym typeface="Open Sans Bold"/>
              </a:rPr>
              <a:t>Pico.css</a:t>
            </a:r>
            <a:r>
              <a:rPr lang="en-US" sz="2158" spc="19">
                <a:solidFill>
                  <a:srgbClr val="000000"/>
                </a:solidFill>
                <a:latin typeface="Open Sans"/>
                <a:ea typeface="Open Sans"/>
                <a:cs typeface="Open Sans"/>
                <a:sym typeface="Open Sans"/>
              </a:rPr>
              <a:t> est un </a:t>
            </a:r>
            <a:r>
              <a:rPr lang="en-US" sz="2158" i="1" spc="19">
                <a:solidFill>
                  <a:srgbClr val="000000"/>
                </a:solidFill>
                <a:latin typeface="Open Sans Italics"/>
                <a:ea typeface="Open Sans Italics"/>
                <a:cs typeface="Open Sans Italics"/>
                <a:sym typeface="Open Sans Italics"/>
              </a:rPr>
              <a:t>micro-framework CSS minimaliste, moderne et open source</a:t>
            </a:r>
            <a:r>
              <a:rPr lang="en-US" sz="2158" spc="19">
                <a:solidFill>
                  <a:srgbClr val="000000"/>
                </a:solidFill>
                <a:latin typeface="Open Sans"/>
                <a:ea typeface="Open Sans"/>
                <a:cs typeface="Open Sans"/>
                <a:sym typeface="Open Sans"/>
              </a:rPr>
              <a:t>, conçu pour offrir immédiatement une mise en page élégante et cohérente en se basant principalement sur la sémantique du HTML. Il appartient à la catégorie des frameworks </a:t>
            </a:r>
            <a:r>
              <a:rPr lang="en-US" sz="2158" b="1" spc="19">
                <a:solidFill>
                  <a:srgbClr val="000000"/>
                </a:solidFill>
                <a:latin typeface="Open Sans Bold"/>
                <a:ea typeface="Open Sans Bold"/>
                <a:cs typeface="Open Sans Bold"/>
                <a:sym typeface="Open Sans Bold"/>
              </a:rPr>
              <a:t>classless CSS</a:t>
            </a:r>
            <a:r>
              <a:rPr lang="en-US" sz="2158" spc="19">
                <a:solidFill>
                  <a:srgbClr val="000000"/>
                </a:solidFill>
                <a:latin typeface="Open Sans"/>
                <a:ea typeface="Open Sans"/>
                <a:cs typeface="Open Sans"/>
                <a:sym typeface="Open Sans"/>
              </a:rPr>
              <a:t>, c’est-à-dire qu’il est capable de styliser automatiquement une page web </a:t>
            </a:r>
            <a:r>
              <a:rPr lang="en-US" sz="2158" i="1" spc="19">
                <a:solidFill>
                  <a:srgbClr val="000000"/>
                </a:solidFill>
                <a:latin typeface="Open Sans Italics"/>
                <a:ea typeface="Open Sans Italics"/>
                <a:cs typeface="Open Sans Italics"/>
                <a:sym typeface="Open Sans Italics"/>
              </a:rPr>
              <a:t>sans nécessiter de classes utilitaires ou de composants personnalisés</a:t>
            </a:r>
            <a:r>
              <a:rPr lang="en-US" sz="2158" spc="19">
                <a:solidFill>
                  <a:srgbClr val="000000"/>
                </a:solidFill>
                <a:latin typeface="Open Sans"/>
                <a:ea typeface="Open Sans"/>
                <a:cs typeface="Open Sans"/>
                <a:sym typeface="Open Sans"/>
              </a:rPr>
              <a:t>. Son but est de maximiser la simplicité et l’accessibilité tout en réduisant le code à écrire.</a:t>
            </a:r>
          </a:p>
          <a:p>
            <a:pPr algn="l">
              <a:lnSpc>
                <a:spcPts val="2973"/>
              </a:lnSpc>
            </a:pPr>
            <a:endParaRPr lang="en-US" sz="2158" spc="19">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a:off x="6202430" y="-342455"/>
            <a:ext cx="1467189" cy="1371155"/>
          </a:xfrm>
          <a:custGeom>
            <a:avLst/>
            <a:gdLst/>
            <a:ahLst/>
            <a:cxnLst/>
            <a:rect l="l" t="t" r="r" b="b"/>
            <a:pathLst>
              <a:path w="1467189" h="1371155">
                <a:moveTo>
                  <a:pt x="0" y="0"/>
                </a:moveTo>
                <a:lnTo>
                  <a:pt x="1467189" y="0"/>
                </a:lnTo>
                <a:lnTo>
                  <a:pt x="1467189" y="1371155"/>
                </a:lnTo>
                <a:lnTo>
                  <a:pt x="0" y="137115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AutoShape 3"/>
          <p:cNvSpPr/>
          <p:nvPr/>
        </p:nvSpPr>
        <p:spPr>
          <a:xfrm flipV="1">
            <a:off x="0" y="647700"/>
            <a:ext cx="8301717" cy="0"/>
          </a:xfrm>
          <a:prstGeom prst="line">
            <a:avLst/>
          </a:prstGeom>
          <a:ln w="38100" cap="flat">
            <a:solidFill>
              <a:srgbClr val="000000"/>
            </a:solidFill>
            <a:prstDash val="solid"/>
            <a:headEnd type="none" w="sm" len="sm"/>
            <a:tailEnd type="none" w="sm" len="sm"/>
          </a:ln>
        </p:spPr>
      </p:sp>
      <p:sp>
        <p:nvSpPr>
          <p:cNvPr id="4" name="AutoShape 4"/>
          <p:cNvSpPr/>
          <p:nvPr/>
        </p:nvSpPr>
        <p:spPr>
          <a:xfrm>
            <a:off x="1391566" y="9823985"/>
            <a:ext cx="16230575" cy="0"/>
          </a:xfrm>
          <a:prstGeom prst="line">
            <a:avLst/>
          </a:prstGeom>
          <a:ln w="38100" cap="flat">
            <a:solidFill>
              <a:srgbClr val="000000"/>
            </a:solidFill>
            <a:prstDash val="solid"/>
            <a:headEnd type="none" w="sm" len="sm"/>
            <a:tailEnd type="none" w="sm" len="sm"/>
          </a:ln>
        </p:spPr>
      </p:sp>
      <p:sp>
        <p:nvSpPr>
          <p:cNvPr id="5" name="Freeform 5"/>
          <p:cNvSpPr/>
          <p:nvPr/>
        </p:nvSpPr>
        <p:spPr>
          <a:xfrm>
            <a:off x="17259300" y="0"/>
            <a:ext cx="1467189" cy="1371155"/>
          </a:xfrm>
          <a:custGeom>
            <a:avLst/>
            <a:gdLst/>
            <a:ahLst/>
            <a:cxnLst/>
            <a:rect l="l" t="t" r="r" b="b"/>
            <a:pathLst>
              <a:path w="1467189" h="1371155">
                <a:moveTo>
                  <a:pt x="0" y="0"/>
                </a:moveTo>
                <a:lnTo>
                  <a:pt x="1467189" y="0"/>
                </a:lnTo>
                <a:lnTo>
                  <a:pt x="1467189" y="1371155"/>
                </a:lnTo>
                <a:lnTo>
                  <a:pt x="0" y="137115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10754634" y="3011278"/>
            <a:ext cx="6504666" cy="2782486"/>
          </a:xfrm>
          <a:custGeom>
            <a:avLst/>
            <a:gdLst/>
            <a:ahLst/>
            <a:cxnLst/>
            <a:rect l="l" t="t" r="r" b="b"/>
            <a:pathLst>
              <a:path w="6504666" h="2782486">
                <a:moveTo>
                  <a:pt x="0" y="0"/>
                </a:moveTo>
                <a:lnTo>
                  <a:pt x="6504666" y="0"/>
                </a:lnTo>
                <a:lnTo>
                  <a:pt x="6504666" y="2782486"/>
                </a:lnTo>
                <a:lnTo>
                  <a:pt x="0" y="2782486"/>
                </a:lnTo>
                <a:lnTo>
                  <a:pt x="0" y="0"/>
                </a:lnTo>
                <a:close/>
              </a:path>
            </a:pathLst>
          </a:custGeom>
          <a:blipFill>
            <a:blip r:embed="rId4"/>
            <a:stretch>
              <a:fillRect l="-3813" t="-51436" r="-16016" b="-49864"/>
            </a:stretch>
          </a:blipFill>
        </p:spPr>
      </p:sp>
      <p:sp>
        <p:nvSpPr>
          <p:cNvPr id="7" name="TextBox 7"/>
          <p:cNvSpPr txBox="1"/>
          <p:nvPr/>
        </p:nvSpPr>
        <p:spPr>
          <a:xfrm>
            <a:off x="530075" y="835821"/>
            <a:ext cx="17447451" cy="2760346"/>
          </a:xfrm>
          <a:prstGeom prst="rect">
            <a:avLst/>
          </a:prstGeom>
        </p:spPr>
        <p:txBody>
          <a:bodyPr lIns="0" tIns="0" rIns="0" bIns="0" rtlCol="0" anchor="t">
            <a:spAutoFit/>
          </a:bodyPr>
          <a:lstStyle/>
          <a:p>
            <a:pPr algn="l">
              <a:lnSpc>
                <a:spcPts val="4319"/>
              </a:lnSpc>
            </a:pPr>
            <a:r>
              <a:rPr lang="en-US" sz="2699" b="1" spc="24">
                <a:gradFill>
                  <a:gsLst>
                    <a:gs pos="0">
                      <a:srgbClr val="000000">
                        <a:alpha val="100000"/>
                      </a:srgbClr>
                    </a:gs>
                    <a:gs pos="100000">
                      <a:srgbClr val="3533CD">
                        <a:alpha val="100000"/>
                      </a:srgbClr>
                    </a:gs>
                  </a:gsLst>
                  <a:lin ang="0"/>
                </a:gradFill>
                <a:latin typeface="Open Sans Bold"/>
                <a:ea typeface="Open Sans Bold"/>
                <a:cs typeface="Open Sans Bold"/>
                <a:sym typeface="Open Sans Bold"/>
              </a:rPr>
              <a:t>Minimaliste</a:t>
            </a:r>
          </a:p>
          <a:p>
            <a:pPr algn="l">
              <a:lnSpc>
                <a:spcPts val="3039"/>
              </a:lnSpc>
            </a:pPr>
            <a:r>
              <a:rPr lang="en-US" sz="1899" spc="17">
                <a:solidFill>
                  <a:srgbClr val="000000"/>
                </a:solidFill>
                <a:latin typeface="Open Sans"/>
                <a:ea typeface="Open Sans"/>
                <a:cs typeface="Open Sans"/>
                <a:sym typeface="Open Sans"/>
              </a:rPr>
              <a:t>Pico.css est conçu pour être minimaliste, ce qui signifie qu’il utilise un nombre limité de classes CSS pour styliser les éléments html . Cela présente plusieurs avantages:</a:t>
            </a:r>
          </a:p>
          <a:p>
            <a:pPr algn="l">
              <a:lnSpc>
                <a:spcPts val="3039"/>
              </a:lnSpc>
            </a:pPr>
            <a:r>
              <a:rPr lang="en-US" sz="1899" spc="17">
                <a:solidFill>
                  <a:srgbClr val="000000"/>
                </a:solidFill>
                <a:latin typeface="Open Sans"/>
                <a:ea typeface="Open Sans"/>
                <a:cs typeface="Open Sans"/>
                <a:sym typeface="Open Sans"/>
              </a:rPr>
              <a:t>   -Facilité d’apprentissage</a:t>
            </a:r>
          </a:p>
          <a:p>
            <a:pPr algn="l">
              <a:lnSpc>
                <a:spcPts val="3039"/>
              </a:lnSpc>
            </a:pPr>
            <a:r>
              <a:rPr lang="en-US" sz="1899" spc="17">
                <a:solidFill>
                  <a:srgbClr val="000000"/>
                </a:solidFill>
                <a:latin typeface="Open Sans"/>
                <a:ea typeface="Open Sans"/>
                <a:cs typeface="Open Sans"/>
                <a:sym typeface="Open Sans"/>
              </a:rPr>
              <a:t>   -Personnalisation plus facile</a:t>
            </a:r>
          </a:p>
          <a:p>
            <a:pPr algn="l">
              <a:lnSpc>
                <a:spcPts val="3039"/>
              </a:lnSpc>
            </a:pPr>
            <a:r>
              <a:rPr lang="en-US" sz="1899" spc="17">
                <a:solidFill>
                  <a:srgbClr val="000000"/>
                </a:solidFill>
                <a:latin typeface="Open Sans"/>
                <a:ea typeface="Open Sans"/>
                <a:cs typeface="Open Sans"/>
                <a:sym typeface="Open Sans"/>
              </a:rPr>
              <a:t>   -Meilleures performances</a:t>
            </a:r>
          </a:p>
          <a:p>
            <a:pPr algn="l">
              <a:lnSpc>
                <a:spcPts val="2400"/>
              </a:lnSpc>
            </a:pPr>
            <a:endParaRPr lang="en-US" sz="1899" spc="17">
              <a:solidFill>
                <a:srgbClr val="000000"/>
              </a:solidFill>
              <a:latin typeface="Open Sans"/>
              <a:ea typeface="Open Sans"/>
              <a:cs typeface="Open Sans"/>
              <a:sym typeface="Open Sans"/>
            </a:endParaRPr>
          </a:p>
        </p:txBody>
      </p:sp>
      <p:sp>
        <p:nvSpPr>
          <p:cNvPr id="8" name="TextBox 8"/>
          <p:cNvSpPr txBox="1"/>
          <p:nvPr/>
        </p:nvSpPr>
        <p:spPr>
          <a:xfrm>
            <a:off x="17622141" y="9766835"/>
            <a:ext cx="355385" cy="261712"/>
          </a:xfrm>
          <a:prstGeom prst="rect">
            <a:avLst/>
          </a:prstGeom>
        </p:spPr>
        <p:txBody>
          <a:bodyPr lIns="0" tIns="0" rIns="0" bIns="0" rtlCol="0" anchor="t">
            <a:spAutoFit/>
          </a:bodyPr>
          <a:lstStyle/>
          <a:p>
            <a:pPr algn="r">
              <a:lnSpc>
                <a:spcPts val="2237"/>
              </a:lnSpc>
            </a:pPr>
            <a:r>
              <a:rPr lang="en-US" sz="1242" b="1" spc="11">
                <a:solidFill>
                  <a:srgbClr val="010101"/>
                </a:solidFill>
                <a:latin typeface="Open Sans Bold"/>
                <a:ea typeface="Open Sans Bold"/>
                <a:cs typeface="Open Sans Bold"/>
                <a:sym typeface="Open Sans Bold"/>
              </a:rPr>
              <a:t>4</a:t>
            </a:r>
          </a:p>
        </p:txBody>
      </p:sp>
      <p:sp>
        <p:nvSpPr>
          <p:cNvPr id="9" name="TextBox 9"/>
          <p:cNvSpPr txBox="1"/>
          <p:nvPr/>
        </p:nvSpPr>
        <p:spPr>
          <a:xfrm>
            <a:off x="874702" y="3821975"/>
            <a:ext cx="6061322" cy="6704217"/>
          </a:xfrm>
          <a:prstGeom prst="rect">
            <a:avLst/>
          </a:prstGeom>
        </p:spPr>
        <p:txBody>
          <a:bodyPr lIns="0" tIns="0" rIns="0" bIns="0" rtlCol="0" anchor="t">
            <a:spAutoFit/>
          </a:bodyPr>
          <a:lstStyle/>
          <a:p>
            <a:pPr algn="l">
              <a:lnSpc>
                <a:spcPts val="4027"/>
              </a:lnSpc>
            </a:pPr>
            <a:r>
              <a:rPr lang="en-US" sz="2516" spc="22">
                <a:solidFill>
                  <a:srgbClr val="000000"/>
                </a:solidFill>
                <a:latin typeface="Open Sans"/>
                <a:ea typeface="Open Sans"/>
                <a:cs typeface="Open Sans"/>
                <a:sym typeface="Open Sans"/>
              </a:rPr>
              <a:t> </a:t>
            </a:r>
            <a:r>
              <a:rPr lang="en-US" sz="2516" b="1" u="sng" spc="22">
                <a:solidFill>
                  <a:srgbClr val="FF3131"/>
                </a:solidFill>
                <a:latin typeface="Open Sans Bold"/>
                <a:ea typeface="Open Sans Bold"/>
                <a:cs typeface="Open Sans Bold"/>
                <a:sym typeface="Open Sans Bold"/>
              </a:rPr>
              <a:t>Responsive</a:t>
            </a:r>
          </a:p>
          <a:p>
            <a:pPr algn="l">
              <a:lnSpc>
                <a:spcPts val="2524"/>
              </a:lnSpc>
            </a:pPr>
            <a:r>
              <a:rPr lang="en-US" sz="1577" spc="14">
                <a:solidFill>
                  <a:srgbClr val="000000"/>
                </a:solidFill>
                <a:latin typeface="Open Sans"/>
                <a:ea typeface="Open Sans"/>
                <a:cs typeface="Open Sans"/>
                <a:sym typeface="Open Sans"/>
              </a:rPr>
              <a:t> Pico.css est conçu pour être responsive, ce qui signifie que les éléments sont automatiquement adaptés aux différentes tailles d’écran. </a:t>
            </a:r>
          </a:p>
          <a:p>
            <a:pPr algn="l">
              <a:lnSpc>
                <a:spcPts val="2660"/>
              </a:lnSpc>
            </a:pPr>
            <a:r>
              <a:rPr lang="en-US" sz="1662" spc="14">
                <a:solidFill>
                  <a:srgbClr val="000000"/>
                </a:solidFill>
                <a:latin typeface="Open Sans"/>
                <a:ea typeface="Open Sans"/>
                <a:cs typeface="Open Sans"/>
                <a:sym typeface="Open Sans"/>
              </a:rPr>
              <a:t>          </a:t>
            </a:r>
            <a:r>
              <a:rPr lang="en-US" sz="1662" b="1" spc="14">
                <a:solidFill>
                  <a:srgbClr val="000000"/>
                </a:solidFill>
                <a:latin typeface="Open Sans Bold"/>
                <a:ea typeface="Open Sans Bold"/>
                <a:cs typeface="Open Sans Bold"/>
                <a:sym typeface="Open Sans Bold"/>
              </a:rPr>
              <a:t>Media queries:</a:t>
            </a:r>
            <a:r>
              <a:rPr lang="en-US" sz="1662" spc="14">
                <a:solidFill>
                  <a:srgbClr val="000000"/>
                </a:solidFill>
                <a:latin typeface="Open Sans"/>
                <a:ea typeface="Open Sans"/>
                <a:cs typeface="Open Sans"/>
                <a:sym typeface="Open Sans"/>
              </a:rPr>
              <a:t> Pico.css utilise des media queries pour adapter les styles en fonction de la taille de l’écran.</a:t>
            </a:r>
          </a:p>
          <a:p>
            <a:pPr algn="l">
              <a:lnSpc>
                <a:spcPts val="2660"/>
              </a:lnSpc>
            </a:pPr>
            <a:r>
              <a:rPr lang="en-US" sz="1662" spc="14">
                <a:solidFill>
                  <a:srgbClr val="000000"/>
                </a:solidFill>
                <a:latin typeface="Open Sans"/>
                <a:ea typeface="Open Sans"/>
                <a:cs typeface="Open Sans"/>
                <a:sym typeface="Open Sans"/>
              </a:rPr>
              <a:t>     </a:t>
            </a:r>
          </a:p>
          <a:p>
            <a:pPr algn="l">
              <a:lnSpc>
                <a:spcPts val="2660"/>
              </a:lnSpc>
            </a:pPr>
            <a:endParaRPr lang="en-US" sz="1662" spc="14">
              <a:solidFill>
                <a:srgbClr val="000000"/>
              </a:solidFill>
              <a:latin typeface="Open Sans"/>
              <a:ea typeface="Open Sans"/>
              <a:cs typeface="Open Sans"/>
              <a:sym typeface="Open Sans"/>
            </a:endParaRPr>
          </a:p>
          <a:p>
            <a:pPr algn="l">
              <a:lnSpc>
                <a:spcPts val="2660"/>
              </a:lnSpc>
            </a:pPr>
            <a:r>
              <a:rPr lang="en-US" sz="1662" spc="14">
                <a:solidFill>
                  <a:srgbClr val="000000"/>
                </a:solidFill>
                <a:latin typeface="Open Sans"/>
                <a:ea typeface="Open Sans"/>
                <a:cs typeface="Open Sans"/>
                <a:sym typeface="Open Sans"/>
              </a:rPr>
              <a:t>         </a:t>
            </a:r>
            <a:r>
              <a:rPr lang="en-US" sz="1662" b="1" spc="14">
                <a:solidFill>
                  <a:srgbClr val="000000"/>
                </a:solidFill>
                <a:latin typeface="Open Sans Bold"/>
                <a:ea typeface="Open Sans Bold"/>
                <a:cs typeface="Open Sans Bold"/>
                <a:sym typeface="Open Sans Bold"/>
              </a:rPr>
              <a:t>Grille flexible:</a:t>
            </a:r>
            <a:r>
              <a:rPr lang="en-US" sz="1662" b="1" u="sng" spc="14">
                <a:solidFill>
                  <a:srgbClr val="000000"/>
                </a:solidFill>
                <a:latin typeface="Open Sans Bold"/>
                <a:ea typeface="Open Sans Bold"/>
                <a:cs typeface="Open Sans Bold"/>
                <a:sym typeface="Open Sans Bold"/>
              </a:rPr>
              <a:t> </a:t>
            </a:r>
            <a:r>
              <a:rPr lang="en-US" sz="1662" spc="14">
                <a:solidFill>
                  <a:srgbClr val="000000"/>
                </a:solidFill>
                <a:latin typeface="Open Sans"/>
                <a:ea typeface="Open Sans"/>
                <a:cs typeface="Open Sans"/>
                <a:sym typeface="Open Sans"/>
              </a:rPr>
              <a:t>La grille de Pico.css est flexible et s’adapte automatiquement à la taille de l’écran.</a:t>
            </a:r>
          </a:p>
          <a:p>
            <a:pPr algn="l">
              <a:lnSpc>
                <a:spcPts val="2524"/>
              </a:lnSpc>
            </a:pPr>
            <a:r>
              <a:rPr lang="en-US" sz="1577" spc="14">
                <a:solidFill>
                  <a:srgbClr val="000000"/>
                </a:solidFill>
                <a:latin typeface="Open Sans"/>
                <a:ea typeface="Open Sans"/>
                <a:cs typeface="Open Sans"/>
                <a:sym typeface="Open Sans"/>
              </a:rPr>
              <a:t>     </a:t>
            </a:r>
          </a:p>
          <a:p>
            <a:pPr algn="l">
              <a:lnSpc>
                <a:spcPts val="2524"/>
              </a:lnSpc>
            </a:pPr>
            <a:endParaRPr lang="en-US" sz="1577" spc="14">
              <a:solidFill>
                <a:srgbClr val="000000"/>
              </a:solidFill>
              <a:latin typeface="Open Sans"/>
              <a:ea typeface="Open Sans"/>
              <a:cs typeface="Open Sans"/>
              <a:sym typeface="Open Sans"/>
            </a:endParaRPr>
          </a:p>
          <a:p>
            <a:pPr algn="l">
              <a:lnSpc>
                <a:spcPts val="2524"/>
              </a:lnSpc>
            </a:pPr>
            <a:r>
              <a:rPr lang="en-US" sz="1577" spc="14">
                <a:solidFill>
                  <a:srgbClr val="000000"/>
                </a:solidFill>
                <a:latin typeface="Open Sans"/>
                <a:ea typeface="Open Sans"/>
                <a:cs typeface="Open Sans"/>
                <a:sym typeface="Open Sans"/>
              </a:rPr>
              <a:t>      </a:t>
            </a:r>
            <a:r>
              <a:rPr lang="en-US" sz="1577" b="1" spc="14">
                <a:solidFill>
                  <a:srgbClr val="000000"/>
                </a:solidFill>
                <a:latin typeface="Open Sans Bold"/>
                <a:ea typeface="Open Sans Bold"/>
                <a:cs typeface="Open Sans Bold"/>
                <a:sym typeface="Open Sans Bold"/>
              </a:rPr>
              <a:t>Eléments adaptifs:</a:t>
            </a:r>
            <a:r>
              <a:rPr lang="en-US" sz="1577" spc="14">
                <a:solidFill>
                  <a:srgbClr val="000000"/>
                </a:solidFill>
                <a:latin typeface="Open Sans"/>
                <a:ea typeface="Open Sans"/>
                <a:cs typeface="Open Sans"/>
                <a:sym typeface="Open Sans"/>
              </a:rPr>
              <a:t> Les éléments tels que les boutons, les formulaires et les images sont conçu pour s’adapter aux différentes tailles d’écran.</a:t>
            </a:r>
          </a:p>
          <a:p>
            <a:pPr algn="l">
              <a:lnSpc>
                <a:spcPts val="2660"/>
              </a:lnSpc>
            </a:pPr>
            <a:r>
              <a:rPr lang="en-US" sz="1662" spc="14">
                <a:solidFill>
                  <a:srgbClr val="000000"/>
                </a:solidFill>
                <a:latin typeface="Open Sans"/>
                <a:ea typeface="Open Sans"/>
                <a:cs typeface="Open Sans"/>
                <a:sym typeface="Open Sans"/>
              </a:rPr>
              <a:t>     </a:t>
            </a:r>
          </a:p>
          <a:p>
            <a:pPr algn="l">
              <a:lnSpc>
                <a:spcPts val="2820"/>
              </a:lnSpc>
            </a:pPr>
            <a:endParaRPr lang="en-US" sz="1662" spc="14">
              <a:solidFill>
                <a:srgbClr val="000000"/>
              </a:solidFill>
              <a:latin typeface="Open Sans"/>
              <a:ea typeface="Open Sans"/>
              <a:cs typeface="Open Sans"/>
              <a:sym typeface="Open Sans"/>
            </a:endParaRPr>
          </a:p>
          <a:p>
            <a:pPr algn="l">
              <a:lnSpc>
                <a:spcPts val="2660"/>
              </a:lnSpc>
            </a:pPr>
            <a:endParaRPr lang="en-US" sz="1662" spc="14">
              <a:solidFill>
                <a:srgbClr val="000000"/>
              </a:solidFill>
              <a:latin typeface="Open Sans"/>
              <a:ea typeface="Open Sans"/>
              <a:cs typeface="Open Sans"/>
              <a:sym typeface="Open Sans"/>
            </a:endParaRPr>
          </a:p>
          <a:p>
            <a:pPr algn="l">
              <a:lnSpc>
                <a:spcPts val="2660"/>
              </a:lnSpc>
            </a:pPr>
            <a:endParaRPr lang="en-US" sz="1662" spc="14">
              <a:solidFill>
                <a:srgbClr val="000000"/>
              </a:solidFill>
              <a:latin typeface="Open Sans"/>
              <a:ea typeface="Open Sans"/>
              <a:cs typeface="Open Sans"/>
              <a:sym typeface="Open Sans"/>
            </a:endParaRPr>
          </a:p>
          <a:p>
            <a:pPr algn="l">
              <a:lnSpc>
                <a:spcPts val="2660"/>
              </a:lnSpc>
            </a:pPr>
            <a:endParaRPr lang="en-US" sz="1662" spc="14">
              <a:solidFill>
                <a:srgbClr val="000000"/>
              </a:solidFill>
              <a:latin typeface="Open Sans"/>
              <a:ea typeface="Open Sans"/>
              <a:cs typeface="Open Sans"/>
              <a:sym typeface="Open Sans"/>
            </a:endParaRPr>
          </a:p>
        </p:txBody>
      </p:sp>
      <p:sp>
        <p:nvSpPr>
          <p:cNvPr id="10" name="Freeform 10"/>
          <p:cNvSpPr/>
          <p:nvPr/>
        </p:nvSpPr>
        <p:spPr>
          <a:xfrm>
            <a:off x="9688685" y="6986068"/>
            <a:ext cx="7570615" cy="2098312"/>
          </a:xfrm>
          <a:custGeom>
            <a:avLst/>
            <a:gdLst/>
            <a:ahLst/>
            <a:cxnLst/>
            <a:rect l="l" t="t" r="r" b="b"/>
            <a:pathLst>
              <a:path w="7570615" h="2098312">
                <a:moveTo>
                  <a:pt x="0" y="0"/>
                </a:moveTo>
                <a:lnTo>
                  <a:pt x="7570615" y="0"/>
                </a:lnTo>
                <a:lnTo>
                  <a:pt x="7570615" y="2098312"/>
                </a:lnTo>
                <a:lnTo>
                  <a:pt x="0" y="2098312"/>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0" y="-104775"/>
            <a:ext cx="18288000" cy="2957481"/>
          </a:xfrm>
          <a:prstGeom prst="rect">
            <a:avLst/>
          </a:prstGeom>
        </p:spPr>
        <p:txBody>
          <a:bodyPr lIns="0" tIns="0" rIns="0" bIns="0" rtlCol="0" anchor="t">
            <a:spAutoFit/>
          </a:bodyPr>
          <a:lstStyle/>
          <a:p>
            <a:pPr algn="l">
              <a:lnSpc>
                <a:spcPts val="4158"/>
              </a:lnSpc>
            </a:pPr>
            <a:r>
              <a:rPr lang="en-US" sz="2599" b="1" spc="23">
                <a:solidFill>
                  <a:srgbClr val="000000"/>
                </a:solidFill>
                <a:latin typeface="Open Sans Bold"/>
                <a:ea typeface="Open Sans Bold"/>
                <a:cs typeface="Open Sans Bold"/>
                <a:sym typeface="Open Sans Bold"/>
              </a:rPr>
              <a:t>       </a:t>
            </a:r>
            <a:r>
              <a:rPr lang="en-US" sz="2599" b="1" spc="23">
                <a:solidFill>
                  <a:srgbClr val="233061"/>
                </a:solidFill>
                <a:latin typeface="Open Sans Bold"/>
                <a:ea typeface="Open Sans Bold"/>
                <a:cs typeface="Open Sans Bold"/>
                <a:sym typeface="Open Sans Bold"/>
              </a:rPr>
              <a:t>Personnalisation:</a:t>
            </a:r>
            <a:r>
              <a:rPr lang="en-US" sz="2599" b="1" spc="23">
                <a:solidFill>
                  <a:srgbClr val="000000"/>
                </a:solidFill>
                <a:latin typeface="Open Sans Bold"/>
                <a:ea typeface="Open Sans Bold"/>
                <a:cs typeface="Open Sans Bold"/>
                <a:sym typeface="Open Sans Bold"/>
              </a:rPr>
              <a:t> </a:t>
            </a:r>
          </a:p>
          <a:p>
            <a:pPr algn="l">
              <a:lnSpc>
                <a:spcPts val="3838"/>
              </a:lnSpc>
            </a:pPr>
            <a:r>
              <a:rPr lang="en-US" sz="2399" spc="21">
                <a:solidFill>
                  <a:srgbClr val="000000"/>
                </a:solidFill>
                <a:latin typeface="Open Sans"/>
                <a:ea typeface="Open Sans"/>
                <a:cs typeface="Open Sans"/>
                <a:sym typeface="Open Sans"/>
              </a:rPr>
              <a:t>  Pico.css offre une grande flexibilité de personnalisation, ce qui vous permet de créer une apparence unique pour votre site web.</a:t>
            </a:r>
          </a:p>
          <a:p>
            <a:pPr algn="l">
              <a:lnSpc>
                <a:spcPts val="3351"/>
              </a:lnSpc>
            </a:pPr>
            <a:r>
              <a:rPr lang="en-US" sz="2094" spc="18">
                <a:solidFill>
                  <a:srgbClr val="000000"/>
                </a:solidFill>
                <a:latin typeface="Open Sans"/>
                <a:ea typeface="Open Sans"/>
                <a:cs typeface="Open Sans"/>
                <a:sym typeface="Open Sans"/>
              </a:rPr>
              <a:t>                       </a:t>
            </a:r>
            <a:r>
              <a:rPr lang="en-US" sz="2094" b="1" spc="18">
                <a:solidFill>
                  <a:srgbClr val="000000"/>
                </a:solidFill>
                <a:latin typeface="Open Sans Bold"/>
                <a:ea typeface="Open Sans Bold"/>
                <a:cs typeface="Open Sans Bold"/>
                <a:sym typeface="Open Sans Bold"/>
              </a:rPr>
              <a:t>• Variables CSS :</a:t>
            </a:r>
            <a:r>
              <a:rPr lang="en-US" sz="2094" spc="18">
                <a:solidFill>
                  <a:srgbClr val="000000"/>
                </a:solidFill>
                <a:latin typeface="Open Sans"/>
                <a:ea typeface="Open Sans"/>
                <a:cs typeface="Open Sans"/>
                <a:sym typeface="Open Sans"/>
              </a:rPr>
              <a:t>couleur et police</a:t>
            </a:r>
          </a:p>
          <a:p>
            <a:pPr algn="l">
              <a:lnSpc>
                <a:spcPts val="3511"/>
              </a:lnSpc>
            </a:pPr>
            <a:r>
              <a:rPr lang="en-US" sz="2194" spc="19">
                <a:solidFill>
                  <a:srgbClr val="000000"/>
                </a:solidFill>
                <a:latin typeface="Open Sans"/>
                <a:ea typeface="Open Sans"/>
                <a:cs typeface="Open Sans"/>
                <a:sym typeface="Open Sans"/>
              </a:rPr>
              <a:t>                      </a:t>
            </a:r>
            <a:r>
              <a:rPr lang="en-US" sz="2194" b="1" spc="19">
                <a:solidFill>
                  <a:srgbClr val="000000"/>
                </a:solidFill>
                <a:latin typeface="Open Sans Bold"/>
                <a:ea typeface="Open Sans Bold"/>
                <a:cs typeface="Open Sans Bold"/>
                <a:sym typeface="Open Sans Bold"/>
              </a:rPr>
              <a:t>• Classes utilitaires :</a:t>
            </a:r>
            <a:r>
              <a:rPr lang="en-US" sz="2194" spc="19">
                <a:solidFill>
                  <a:srgbClr val="000000"/>
                </a:solidFill>
                <a:latin typeface="Open Sans"/>
                <a:ea typeface="Open Sans"/>
                <a:cs typeface="Open Sans"/>
                <a:sym typeface="Open Sans"/>
              </a:rPr>
              <a:t> personnaliser les éléments sans avoir à écrire du CSS personnalisé.</a:t>
            </a:r>
          </a:p>
          <a:p>
            <a:pPr algn="l">
              <a:lnSpc>
                <a:spcPts val="5143"/>
              </a:lnSpc>
            </a:pPr>
            <a:r>
              <a:rPr lang="en-US" sz="3214" b="1" spc="28">
                <a:gradFill>
                  <a:gsLst>
                    <a:gs pos="0">
                      <a:srgbClr val="5170FF">
                        <a:alpha val="100000"/>
                      </a:srgbClr>
                    </a:gs>
                    <a:gs pos="100000">
                      <a:srgbClr val="FF66C4">
                        <a:alpha val="100000"/>
                      </a:srgbClr>
                    </a:gs>
                  </a:gsLst>
                  <a:lin ang="0"/>
                </a:gradFill>
                <a:latin typeface="Open Sans Bold"/>
                <a:ea typeface="Open Sans Bold"/>
                <a:cs typeface="Open Sans Bold"/>
                <a:sym typeface="Open Sans Bold"/>
              </a:rPr>
              <a:t>       </a:t>
            </a:r>
          </a:p>
        </p:txBody>
      </p:sp>
      <p:sp>
        <p:nvSpPr>
          <p:cNvPr id="3" name="TextBox 3"/>
          <p:cNvSpPr txBox="1"/>
          <p:nvPr/>
        </p:nvSpPr>
        <p:spPr>
          <a:xfrm>
            <a:off x="17622141" y="9766835"/>
            <a:ext cx="355385" cy="261712"/>
          </a:xfrm>
          <a:prstGeom prst="rect">
            <a:avLst/>
          </a:prstGeom>
        </p:spPr>
        <p:txBody>
          <a:bodyPr lIns="0" tIns="0" rIns="0" bIns="0" rtlCol="0" anchor="t">
            <a:spAutoFit/>
          </a:bodyPr>
          <a:lstStyle/>
          <a:p>
            <a:pPr algn="r">
              <a:lnSpc>
                <a:spcPts val="2237"/>
              </a:lnSpc>
            </a:pPr>
            <a:r>
              <a:rPr lang="en-US" sz="1242" b="1" spc="11">
                <a:solidFill>
                  <a:srgbClr val="010101"/>
                </a:solidFill>
                <a:latin typeface="Open Sans Bold"/>
                <a:ea typeface="Open Sans Bold"/>
                <a:cs typeface="Open Sans Bold"/>
                <a:sym typeface="Open Sans Bold"/>
              </a:rPr>
              <a:t>5</a:t>
            </a:r>
          </a:p>
        </p:txBody>
      </p:sp>
      <p:grpSp>
        <p:nvGrpSpPr>
          <p:cNvPr id="4" name="Group 4"/>
          <p:cNvGrpSpPr>
            <a:grpSpLocks noChangeAspect="1"/>
          </p:cNvGrpSpPr>
          <p:nvPr/>
        </p:nvGrpSpPr>
        <p:grpSpPr>
          <a:xfrm>
            <a:off x="14881880" y="4254875"/>
            <a:ext cx="2917953" cy="5773672"/>
            <a:chOff x="0" y="0"/>
            <a:chExt cx="2620010" cy="5184140"/>
          </a:xfrm>
        </p:grpSpPr>
        <p:sp>
          <p:nvSpPr>
            <p:cNvPr id="5" name="Freeform 5"/>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6" name="Freeform 6"/>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0091" r="-29346"/>
              </a:stretch>
            </a:blipFill>
          </p:spPr>
        </p:sp>
        <p:sp>
          <p:nvSpPr>
            <p:cNvPr id="7" name="Freeform 7"/>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8" name="Freeform 8"/>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9" name="Freeform 9"/>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10" name="Freeform 10"/>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11" name="Freeform 11"/>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12" name="Freeform 12"/>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13" name="Freeform 13"/>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id="14" name="Group 14"/>
          <p:cNvGrpSpPr>
            <a:grpSpLocks noChangeAspect="1"/>
          </p:cNvGrpSpPr>
          <p:nvPr/>
        </p:nvGrpSpPr>
        <p:grpSpPr>
          <a:xfrm>
            <a:off x="8844234" y="6226985"/>
            <a:ext cx="7078278" cy="4060015"/>
            <a:chOff x="0" y="0"/>
            <a:chExt cx="7981950" cy="4578350"/>
          </a:xfrm>
        </p:grpSpPr>
        <p:sp>
          <p:nvSpPr>
            <p:cNvPr id="15" name="Freeform 15"/>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6" name="Freeform 16"/>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7" name="Freeform 17"/>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8" name="Freeform 18"/>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9" name="Freeform 19"/>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3"/>
              <a:stretch>
                <a:fillRect t="-2672" b="-2672"/>
              </a:stretch>
            </a:blipFill>
          </p:spPr>
        </p:sp>
      </p:grpSp>
      <p:sp>
        <p:nvSpPr>
          <p:cNvPr id="20" name="TextBox 20"/>
          <p:cNvSpPr txBox="1"/>
          <p:nvPr/>
        </p:nvSpPr>
        <p:spPr>
          <a:xfrm>
            <a:off x="697796" y="3503484"/>
            <a:ext cx="7849839" cy="6547003"/>
          </a:xfrm>
          <a:prstGeom prst="rect">
            <a:avLst/>
          </a:prstGeom>
        </p:spPr>
        <p:txBody>
          <a:bodyPr lIns="0" tIns="0" rIns="0" bIns="0" rtlCol="0" anchor="t">
            <a:spAutoFit/>
          </a:bodyPr>
          <a:lstStyle/>
          <a:p>
            <a:pPr algn="just">
              <a:lnSpc>
                <a:spcPts val="5975"/>
              </a:lnSpc>
            </a:pPr>
            <a:r>
              <a:rPr lang="en-US" sz="3734" b="1" u="sng" spc="33">
                <a:solidFill>
                  <a:srgbClr val="FF3131"/>
                </a:solidFill>
                <a:latin typeface="Open Sans Bold"/>
                <a:ea typeface="Open Sans Bold"/>
                <a:cs typeface="Open Sans Bold"/>
                <a:sym typeface="Open Sans Bold"/>
              </a:rPr>
              <a:t>Léger</a:t>
            </a:r>
          </a:p>
          <a:p>
            <a:pPr algn="just">
              <a:lnSpc>
                <a:spcPts val="4614"/>
              </a:lnSpc>
            </a:pPr>
            <a:r>
              <a:rPr lang="en-US" sz="2884" spc="25">
                <a:solidFill>
                  <a:srgbClr val="000000"/>
                </a:solidFill>
                <a:latin typeface="Open Sans"/>
                <a:ea typeface="Open Sans"/>
                <a:cs typeface="Open Sans"/>
                <a:sym typeface="Open Sans"/>
              </a:rPr>
              <a:t>•Pico.css est conçu pour être léger, ce qui signifie que le fichier CSS est petit et se charge rapidement.</a:t>
            </a:r>
          </a:p>
          <a:p>
            <a:pPr algn="just">
              <a:lnSpc>
                <a:spcPts val="4614"/>
              </a:lnSpc>
            </a:pPr>
            <a:r>
              <a:rPr lang="en-US" sz="2884" spc="25">
                <a:solidFill>
                  <a:srgbClr val="000000"/>
                </a:solidFill>
                <a:latin typeface="Open Sans"/>
                <a:ea typeface="Open Sans"/>
                <a:cs typeface="Open Sans"/>
                <a:sym typeface="Open Sans"/>
              </a:rPr>
              <a:t>•- </a:t>
            </a:r>
            <a:r>
              <a:rPr lang="en-US" sz="2884" b="1" spc="25">
                <a:solidFill>
                  <a:srgbClr val="000000"/>
                </a:solidFill>
                <a:latin typeface="Open Sans Bold"/>
                <a:ea typeface="Open Sans Bold"/>
                <a:cs typeface="Open Sans Bold"/>
                <a:sym typeface="Open Sans Bold"/>
              </a:rPr>
              <a:t>Taille du fichier </a:t>
            </a:r>
            <a:r>
              <a:rPr lang="en-US" sz="2884" spc="25">
                <a:solidFill>
                  <a:srgbClr val="000000"/>
                </a:solidFill>
                <a:latin typeface="Open Sans"/>
                <a:ea typeface="Open Sans"/>
                <a:cs typeface="Open Sans"/>
                <a:sym typeface="Open Sans"/>
              </a:rPr>
              <a:t>: La taille du fichier CSS de Pico.css est très petite, ce qui améliore les temps de chargement et la performance.-</a:t>
            </a:r>
          </a:p>
          <a:p>
            <a:pPr algn="just">
              <a:lnSpc>
                <a:spcPts val="4614"/>
              </a:lnSpc>
            </a:pPr>
            <a:r>
              <a:rPr lang="en-US" sz="2884" spc="25">
                <a:solidFill>
                  <a:srgbClr val="000000"/>
                </a:solidFill>
                <a:latin typeface="Open Sans"/>
                <a:ea typeface="Open Sans"/>
                <a:cs typeface="Open Sans"/>
                <a:sym typeface="Open Sans"/>
              </a:rPr>
              <a:t>•</a:t>
            </a:r>
            <a:r>
              <a:rPr lang="en-US" sz="2884" b="1" spc="25">
                <a:solidFill>
                  <a:srgbClr val="000000"/>
                </a:solidFill>
                <a:latin typeface="Open Sans Bold"/>
                <a:ea typeface="Open Sans Bold"/>
                <a:cs typeface="Open Sans Bold"/>
                <a:sym typeface="Open Sans Bold"/>
              </a:rPr>
              <a:t>Optimisatio</a:t>
            </a:r>
            <a:r>
              <a:rPr lang="en-US" sz="2884" spc="25">
                <a:solidFill>
                  <a:srgbClr val="000000"/>
                </a:solidFill>
                <a:latin typeface="Open Sans"/>
                <a:ea typeface="Open Sans"/>
                <a:cs typeface="Open Sans"/>
                <a:sym typeface="Open Sans"/>
              </a:rPr>
              <a:t>n : Pico.css est optimisé pour la performance, ce qui signifie que le code est écrit de manière efficace et </a:t>
            </a:r>
            <a:r>
              <a:rPr lang="en-US" sz="2884" spc="25">
                <a:solidFill>
                  <a:srgbClr val="5170FF"/>
                </a:solidFill>
                <a:latin typeface="Open Sans"/>
                <a:ea typeface="Open Sans"/>
                <a:cs typeface="Open Sans"/>
                <a:sym typeface="Open Sans"/>
              </a:rPr>
              <a:t>minimaliste</a:t>
            </a:r>
            <a:r>
              <a:rPr lang="en-US" sz="2884" spc="25">
                <a:solidFill>
                  <a:srgbClr val="000000"/>
                </a:solidFill>
                <a:latin typeface="Open Sans"/>
                <a:ea typeface="Open Sans"/>
                <a:cs typeface="Open Sans"/>
                <a:sym typeface="Open Sans"/>
              </a:rPr>
              <a:t>.</a:t>
            </a:r>
          </a:p>
          <a:p>
            <a:pPr algn="just">
              <a:lnSpc>
                <a:spcPts val="4614"/>
              </a:lnSpc>
            </a:pPr>
            <a:endParaRPr lang="en-US" sz="2884" spc="25">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AutoShape 2"/>
          <p:cNvSpPr/>
          <p:nvPr/>
        </p:nvSpPr>
        <p:spPr>
          <a:xfrm flipV="1">
            <a:off x="6138271" y="2961280"/>
            <a:ext cx="0" cy="5248733"/>
          </a:xfrm>
          <a:prstGeom prst="line">
            <a:avLst/>
          </a:prstGeom>
          <a:ln w="9525" cap="flat">
            <a:solidFill>
              <a:srgbClr val="010101"/>
            </a:solidFill>
            <a:prstDash val="sysDot"/>
            <a:headEnd type="none" w="sm" len="sm"/>
            <a:tailEnd type="none" w="sm" len="sm"/>
          </a:ln>
        </p:spPr>
      </p:sp>
      <p:sp>
        <p:nvSpPr>
          <p:cNvPr id="3" name="AutoShape 3"/>
          <p:cNvSpPr/>
          <p:nvPr/>
        </p:nvSpPr>
        <p:spPr>
          <a:xfrm flipV="1">
            <a:off x="782629" y="1031850"/>
            <a:ext cx="5597731" cy="48700"/>
          </a:xfrm>
          <a:prstGeom prst="line">
            <a:avLst/>
          </a:prstGeom>
          <a:ln w="38100" cap="flat">
            <a:solidFill>
              <a:srgbClr val="000000"/>
            </a:solidFill>
            <a:prstDash val="solid"/>
            <a:headEnd type="none" w="sm" len="sm"/>
            <a:tailEnd type="none" w="sm" len="sm"/>
          </a:ln>
        </p:spPr>
      </p:sp>
      <p:grpSp>
        <p:nvGrpSpPr>
          <p:cNvPr id="4" name="Group 4"/>
          <p:cNvGrpSpPr/>
          <p:nvPr/>
        </p:nvGrpSpPr>
        <p:grpSpPr>
          <a:xfrm>
            <a:off x="12345415" y="495876"/>
            <a:ext cx="5156131" cy="3390352"/>
            <a:chOff x="0" y="0"/>
            <a:chExt cx="1236126" cy="812800"/>
          </a:xfrm>
        </p:grpSpPr>
        <p:sp>
          <p:nvSpPr>
            <p:cNvPr id="5" name="Freeform 5"/>
            <p:cNvSpPr/>
            <p:nvPr/>
          </p:nvSpPr>
          <p:spPr>
            <a:xfrm>
              <a:off x="0" y="0"/>
              <a:ext cx="1236126" cy="812800"/>
            </a:xfrm>
            <a:custGeom>
              <a:avLst/>
              <a:gdLst/>
              <a:ahLst/>
              <a:cxnLst/>
              <a:rect l="l" t="t" r="r" b="b"/>
              <a:pathLst>
                <a:path w="1236126" h="812800">
                  <a:moveTo>
                    <a:pt x="34534" y="0"/>
                  </a:moveTo>
                  <a:lnTo>
                    <a:pt x="1201592" y="0"/>
                  </a:lnTo>
                  <a:cubicBezTo>
                    <a:pt x="1210751" y="0"/>
                    <a:pt x="1219535" y="3638"/>
                    <a:pt x="1226012" y="10115"/>
                  </a:cubicBezTo>
                  <a:cubicBezTo>
                    <a:pt x="1232488" y="16591"/>
                    <a:pt x="1236126" y="25375"/>
                    <a:pt x="1236126" y="34534"/>
                  </a:cubicBezTo>
                  <a:lnTo>
                    <a:pt x="1236126" y="778266"/>
                  </a:lnTo>
                  <a:cubicBezTo>
                    <a:pt x="1236126" y="787425"/>
                    <a:pt x="1232488" y="796209"/>
                    <a:pt x="1226012" y="802685"/>
                  </a:cubicBezTo>
                  <a:cubicBezTo>
                    <a:pt x="1219535" y="809162"/>
                    <a:pt x="1210751" y="812800"/>
                    <a:pt x="1201592" y="812800"/>
                  </a:cubicBezTo>
                  <a:lnTo>
                    <a:pt x="34534" y="812800"/>
                  </a:lnTo>
                  <a:cubicBezTo>
                    <a:pt x="25375" y="812800"/>
                    <a:pt x="16591" y="809162"/>
                    <a:pt x="10115" y="802685"/>
                  </a:cubicBezTo>
                  <a:cubicBezTo>
                    <a:pt x="3638" y="796209"/>
                    <a:pt x="0" y="787425"/>
                    <a:pt x="0" y="778266"/>
                  </a:cubicBezTo>
                  <a:lnTo>
                    <a:pt x="0" y="34534"/>
                  </a:lnTo>
                  <a:cubicBezTo>
                    <a:pt x="0" y="25375"/>
                    <a:pt x="3638" y="16591"/>
                    <a:pt x="10115" y="10115"/>
                  </a:cubicBezTo>
                  <a:cubicBezTo>
                    <a:pt x="16591" y="3638"/>
                    <a:pt x="25375" y="0"/>
                    <a:pt x="34534" y="0"/>
                  </a:cubicBezTo>
                  <a:close/>
                </a:path>
              </a:pathLst>
            </a:custGeom>
            <a:blipFill>
              <a:blip r:embed="rId2"/>
              <a:stretch>
                <a:fillRect l="-12292" t="-10216" r="-8437" b="-11774"/>
              </a:stretch>
            </a:blipFill>
          </p:spPr>
        </p:sp>
      </p:grpSp>
      <p:grpSp>
        <p:nvGrpSpPr>
          <p:cNvPr id="6" name="Group 6"/>
          <p:cNvGrpSpPr/>
          <p:nvPr/>
        </p:nvGrpSpPr>
        <p:grpSpPr>
          <a:xfrm>
            <a:off x="11826108" y="5227332"/>
            <a:ext cx="6131992" cy="779983"/>
            <a:chOff x="0" y="0"/>
            <a:chExt cx="3383140" cy="430332"/>
          </a:xfrm>
        </p:grpSpPr>
        <p:sp>
          <p:nvSpPr>
            <p:cNvPr id="7" name="Freeform 7"/>
            <p:cNvSpPr/>
            <p:nvPr/>
          </p:nvSpPr>
          <p:spPr>
            <a:xfrm>
              <a:off x="0" y="0"/>
              <a:ext cx="3383140" cy="430332"/>
            </a:xfrm>
            <a:custGeom>
              <a:avLst/>
              <a:gdLst/>
              <a:ahLst/>
              <a:cxnLst/>
              <a:rect l="l" t="t" r="r" b="b"/>
              <a:pathLst>
                <a:path w="3383140" h="430332">
                  <a:moveTo>
                    <a:pt x="29039" y="0"/>
                  </a:moveTo>
                  <a:lnTo>
                    <a:pt x="3354102" y="0"/>
                  </a:lnTo>
                  <a:cubicBezTo>
                    <a:pt x="3361803" y="0"/>
                    <a:pt x="3369189" y="3059"/>
                    <a:pt x="3374635" y="8505"/>
                  </a:cubicBezTo>
                  <a:cubicBezTo>
                    <a:pt x="3380081" y="13951"/>
                    <a:pt x="3383140" y="21337"/>
                    <a:pt x="3383140" y="29039"/>
                  </a:cubicBezTo>
                  <a:lnTo>
                    <a:pt x="3383140" y="401293"/>
                  </a:lnTo>
                  <a:cubicBezTo>
                    <a:pt x="3383140" y="408995"/>
                    <a:pt x="3380081" y="416381"/>
                    <a:pt x="3374635" y="421827"/>
                  </a:cubicBezTo>
                  <a:cubicBezTo>
                    <a:pt x="3369189" y="427273"/>
                    <a:pt x="3361803" y="430332"/>
                    <a:pt x="3354102" y="430332"/>
                  </a:cubicBezTo>
                  <a:lnTo>
                    <a:pt x="29039" y="430332"/>
                  </a:lnTo>
                  <a:cubicBezTo>
                    <a:pt x="21337" y="430332"/>
                    <a:pt x="13951" y="427273"/>
                    <a:pt x="8505" y="421827"/>
                  </a:cubicBezTo>
                  <a:cubicBezTo>
                    <a:pt x="3059" y="416381"/>
                    <a:pt x="0" y="408995"/>
                    <a:pt x="0" y="401293"/>
                  </a:cubicBezTo>
                  <a:lnTo>
                    <a:pt x="0" y="29039"/>
                  </a:lnTo>
                  <a:cubicBezTo>
                    <a:pt x="0" y="21337"/>
                    <a:pt x="3059" y="13951"/>
                    <a:pt x="8505" y="8505"/>
                  </a:cubicBezTo>
                  <a:cubicBezTo>
                    <a:pt x="13951" y="3059"/>
                    <a:pt x="21337" y="0"/>
                    <a:pt x="29039" y="0"/>
                  </a:cubicBezTo>
                  <a:close/>
                </a:path>
              </a:pathLst>
            </a:custGeom>
            <a:blipFill>
              <a:blip r:embed="rId3"/>
              <a:stretch>
                <a:fillRect t="-931" b="-931"/>
              </a:stretch>
            </a:blipFill>
          </p:spPr>
        </p:sp>
      </p:grpSp>
      <p:grpSp>
        <p:nvGrpSpPr>
          <p:cNvPr id="8" name="Group 8"/>
          <p:cNvGrpSpPr/>
          <p:nvPr/>
        </p:nvGrpSpPr>
        <p:grpSpPr>
          <a:xfrm>
            <a:off x="337136" y="7251151"/>
            <a:ext cx="5567718" cy="2337280"/>
            <a:chOff x="0" y="0"/>
            <a:chExt cx="1025109" cy="430332"/>
          </a:xfrm>
        </p:grpSpPr>
        <p:sp>
          <p:nvSpPr>
            <p:cNvPr id="9" name="Freeform 9"/>
            <p:cNvSpPr/>
            <p:nvPr/>
          </p:nvSpPr>
          <p:spPr>
            <a:xfrm>
              <a:off x="0" y="0"/>
              <a:ext cx="1025109" cy="430332"/>
            </a:xfrm>
            <a:custGeom>
              <a:avLst/>
              <a:gdLst/>
              <a:ahLst/>
              <a:cxnLst/>
              <a:rect l="l" t="t" r="r" b="b"/>
              <a:pathLst>
                <a:path w="1025109" h="430332">
                  <a:moveTo>
                    <a:pt x="31982" y="0"/>
                  </a:moveTo>
                  <a:lnTo>
                    <a:pt x="993128" y="0"/>
                  </a:lnTo>
                  <a:cubicBezTo>
                    <a:pt x="1001610" y="0"/>
                    <a:pt x="1009744" y="3369"/>
                    <a:pt x="1015742" y="9367"/>
                  </a:cubicBezTo>
                  <a:cubicBezTo>
                    <a:pt x="1021740" y="15365"/>
                    <a:pt x="1025109" y="23500"/>
                    <a:pt x="1025109" y="31982"/>
                  </a:cubicBezTo>
                  <a:lnTo>
                    <a:pt x="1025109" y="398350"/>
                  </a:lnTo>
                  <a:cubicBezTo>
                    <a:pt x="1025109" y="406832"/>
                    <a:pt x="1021740" y="414967"/>
                    <a:pt x="1015742" y="420965"/>
                  </a:cubicBezTo>
                  <a:cubicBezTo>
                    <a:pt x="1009744" y="426963"/>
                    <a:pt x="1001610" y="430332"/>
                    <a:pt x="993128" y="430332"/>
                  </a:cubicBezTo>
                  <a:lnTo>
                    <a:pt x="31982" y="430332"/>
                  </a:lnTo>
                  <a:cubicBezTo>
                    <a:pt x="23500" y="430332"/>
                    <a:pt x="15365" y="426963"/>
                    <a:pt x="9367" y="420965"/>
                  </a:cubicBezTo>
                  <a:cubicBezTo>
                    <a:pt x="3369" y="414967"/>
                    <a:pt x="0" y="406832"/>
                    <a:pt x="0" y="398350"/>
                  </a:cubicBezTo>
                  <a:lnTo>
                    <a:pt x="0" y="31982"/>
                  </a:lnTo>
                  <a:cubicBezTo>
                    <a:pt x="0" y="23500"/>
                    <a:pt x="3369" y="15365"/>
                    <a:pt x="9367" y="9367"/>
                  </a:cubicBezTo>
                  <a:cubicBezTo>
                    <a:pt x="15365" y="3369"/>
                    <a:pt x="23500" y="0"/>
                    <a:pt x="31982" y="0"/>
                  </a:cubicBezTo>
                  <a:close/>
                </a:path>
              </a:pathLst>
            </a:custGeom>
            <a:blipFill>
              <a:blip r:embed="rId4"/>
              <a:stretch>
                <a:fillRect l="-255" r="-255"/>
              </a:stretch>
            </a:blipFill>
          </p:spPr>
        </p:sp>
      </p:grpSp>
      <p:grpSp>
        <p:nvGrpSpPr>
          <p:cNvPr id="10" name="Group 10"/>
          <p:cNvGrpSpPr/>
          <p:nvPr/>
        </p:nvGrpSpPr>
        <p:grpSpPr>
          <a:xfrm>
            <a:off x="11988033" y="6380419"/>
            <a:ext cx="5896501" cy="2485616"/>
            <a:chOff x="0" y="0"/>
            <a:chExt cx="1178092" cy="496614"/>
          </a:xfrm>
        </p:grpSpPr>
        <p:sp>
          <p:nvSpPr>
            <p:cNvPr id="11" name="Freeform 11"/>
            <p:cNvSpPr/>
            <p:nvPr/>
          </p:nvSpPr>
          <p:spPr>
            <a:xfrm>
              <a:off x="0" y="0"/>
              <a:ext cx="1178092" cy="496614"/>
            </a:xfrm>
            <a:custGeom>
              <a:avLst/>
              <a:gdLst/>
              <a:ahLst/>
              <a:cxnLst/>
              <a:rect l="l" t="t" r="r" b="b"/>
              <a:pathLst>
                <a:path w="1178092" h="496614">
                  <a:moveTo>
                    <a:pt x="30198" y="0"/>
                  </a:moveTo>
                  <a:lnTo>
                    <a:pt x="1147894" y="0"/>
                  </a:lnTo>
                  <a:cubicBezTo>
                    <a:pt x="1155903" y="0"/>
                    <a:pt x="1163584" y="3182"/>
                    <a:pt x="1169247" y="8845"/>
                  </a:cubicBezTo>
                  <a:cubicBezTo>
                    <a:pt x="1174910" y="14508"/>
                    <a:pt x="1178092" y="22189"/>
                    <a:pt x="1178092" y="30198"/>
                  </a:cubicBezTo>
                  <a:lnTo>
                    <a:pt x="1178092" y="466416"/>
                  </a:lnTo>
                  <a:cubicBezTo>
                    <a:pt x="1178092" y="474425"/>
                    <a:pt x="1174910" y="482106"/>
                    <a:pt x="1169247" y="487769"/>
                  </a:cubicBezTo>
                  <a:cubicBezTo>
                    <a:pt x="1163584" y="493432"/>
                    <a:pt x="1155903" y="496614"/>
                    <a:pt x="1147894" y="496614"/>
                  </a:cubicBezTo>
                  <a:lnTo>
                    <a:pt x="30198" y="496614"/>
                  </a:lnTo>
                  <a:cubicBezTo>
                    <a:pt x="22189" y="496614"/>
                    <a:pt x="14508" y="493432"/>
                    <a:pt x="8845" y="487769"/>
                  </a:cubicBezTo>
                  <a:cubicBezTo>
                    <a:pt x="3182" y="482106"/>
                    <a:pt x="0" y="474425"/>
                    <a:pt x="0" y="466416"/>
                  </a:cubicBezTo>
                  <a:lnTo>
                    <a:pt x="0" y="30198"/>
                  </a:lnTo>
                  <a:cubicBezTo>
                    <a:pt x="0" y="22189"/>
                    <a:pt x="3182" y="14508"/>
                    <a:pt x="8845" y="8845"/>
                  </a:cubicBezTo>
                  <a:cubicBezTo>
                    <a:pt x="14508" y="3182"/>
                    <a:pt x="22189" y="0"/>
                    <a:pt x="30198" y="0"/>
                  </a:cubicBezTo>
                  <a:close/>
                </a:path>
              </a:pathLst>
            </a:custGeom>
            <a:blipFill>
              <a:blip r:embed="rId5"/>
              <a:stretch>
                <a:fillRect t="-2992" b="-2992"/>
              </a:stretch>
            </a:blipFill>
          </p:spPr>
        </p:sp>
      </p:grpSp>
      <p:sp>
        <p:nvSpPr>
          <p:cNvPr id="12" name="TextBox 12"/>
          <p:cNvSpPr txBox="1"/>
          <p:nvPr/>
        </p:nvSpPr>
        <p:spPr>
          <a:xfrm>
            <a:off x="6781208" y="1847578"/>
            <a:ext cx="4406725" cy="8271848"/>
          </a:xfrm>
          <a:prstGeom prst="rect">
            <a:avLst/>
          </a:prstGeom>
        </p:spPr>
        <p:txBody>
          <a:bodyPr lIns="0" tIns="0" rIns="0" bIns="0" rtlCol="0" anchor="t">
            <a:spAutoFit/>
          </a:bodyPr>
          <a:lstStyle/>
          <a:p>
            <a:pPr algn="l">
              <a:lnSpc>
                <a:spcPts val="2814"/>
              </a:lnSpc>
            </a:pPr>
            <a:r>
              <a:rPr lang="en-US" sz="2010" spc="18">
                <a:solidFill>
                  <a:srgbClr val="000000"/>
                </a:solidFill>
                <a:latin typeface="Open Sans"/>
                <a:ea typeface="Open Sans"/>
                <a:cs typeface="Open Sans"/>
                <a:sym typeface="Open Sans"/>
              </a:rPr>
              <a:t>•Pico.css est conçu pour être                                       simple, mais parfaitement personnalisable grâce aux variables CSS, </a:t>
            </a:r>
          </a:p>
          <a:p>
            <a:pPr algn="l">
              <a:lnSpc>
                <a:spcPts val="2814"/>
              </a:lnSpc>
            </a:pPr>
            <a:endParaRPr lang="en-US" sz="2010" spc="18">
              <a:solidFill>
                <a:srgbClr val="000000"/>
              </a:solidFill>
              <a:latin typeface="Open Sans"/>
              <a:ea typeface="Open Sans"/>
              <a:cs typeface="Open Sans"/>
              <a:sym typeface="Open Sans"/>
            </a:endParaRPr>
          </a:p>
          <a:p>
            <a:pPr algn="l">
              <a:lnSpc>
                <a:spcPts val="2814"/>
              </a:lnSpc>
            </a:pPr>
            <a:r>
              <a:rPr lang="en-US" sz="2010" spc="18">
                <a:solidFill>
                  <a:srgbClr val="000000"/>
                </a:solidFill>
                <a:latin typeface="Open Sans"/>
                <a:ea typeface="Open Sans"/>
                <a:cs typeface="Open Sans"/>
                <a:sym typeface="Open Sans"/>
              </a:rPr>
              <a:t>Voici les principaux types de personnalisations :</a:t>
            </a:r>
          </a:p>
          <a:p>
            <a:pPr algn="l">
              <a:lnSpc>
                <a:spcPts val="2814"/>
              </a:lnSpc>
            </a:pPr>
            <a:r>
              <a:rPr lang="en-US" sz="2010" spc="18">
                <a:solidFill>
                  <a:srgbClr val="000000"/>
                </a:solidFill>
                <a:latin typeface="Open Sans"/>
                <a:ea typeface="Open Sans"/>
                <a:cs typeface="Open Sans"/>
                <a:sym typeface="Open Sans"/>
              </a:rPr>
              <a:t>    •  Thèmes: dark theme </a:t>
            </a:r>
          </a:p>
          <a:p>
            <a:pPr algn="l">
              <a:lnSpc>
                <a:spcPts val="2814"/>
              </a:lnSpc>
            </a:pPr>
            <a:endParaRPr lang="en-US" sz="2010" spc="18">
              <a:solidFill>
                <a:srgbClr val="000000"/>
              </a:solidFill>
              <a:latin typeface="Open Sans"/>
              <a:ea typeface="Open Sans"/>
              <a:cs typeface="Open Sans"/>
              <a:sym typeface="Open Sans"/>
            </a:endParaRPr>
          </a:p>
          <a:p>
            <a:pPr algn="l">
              <a:lnSpc>
                <a:spcPts val="2814"/>
              </a:lnSpc>
            </a:pPr>
            <a:r>
              <a:rPr lang="en-US" sz="2010" spc="18">
                <a:solidFill>
                  <a:srgbClr val="000000"/>
                </a:solidFill>
                <a:latin typeface="Open Sans"/>
                <a:ea typeface="Open Sans"/>
                <a:cs typeface="Open Sans"/>
                <a:sym typeface="Open Sans"/>
              </a:rPr>
              <a:t>     •  Variables CSS </a:t>
            </a:r>
          </a:p>
          <a:p>
            <a:pPr algn="l">
              <a:lnSpc>
                <a:spcPts val="2814"/>
              </a:lnSpc>
            </a:pPr>
            <a:endParaRPr lang="en-US" sz="2010" spc="18">
              <a:solidFill>
                <a:srgbClr val="000000"/>
              </a:solidFill>
              <a:latin typeface="Open Sans"/>
              <a:ea typeface="Open Sans"/>
              <a:cs typeface="Open Sans"/>
              <a:sym typeface="Open Sans"/>
            </a:endParaRPr>
          </a:p>
          <a:p>
            <a:pPr algn="l">
              <a:lnSpc>
                <a:spcPts val="2814"/>
              </a:lnSpc>
            </a:pPr>
            <a:r>
              <a:rPr lang="en-US" sz="2010" spc="18">
                <a:solidFill>
                  <a:srgbClr val="000000"/>
                </a:solidFill>
                <a:latin typeface="Open Sans"/>
                <a:ea typeface="Open Sans"/>
                <a:cs typeface="Open Sans"/>
                <a:sym typeface="Open Sans"/>
              </a:rPr>
              <a:t>     • Composants :  boutons, des formulaires, des tableaux ,des articles.</a:t>
            </a:r>
          </a:p>
          <a:p>
            <a:pPr algn="l">
              <a:lnSpc>
                <a:spcPts val="2814"/>
              </a:lnSpc>
            </a:pPr>
            <a:r>
              <a:rPr lang="en-US" sz="2010" spc="18">
                <a:solidFill>
                  <a:srgbClr val="000000"/>
                </a:solidFill>
                <a:latin typeface="Open Sans"/>
                <a:ea typeface="Open Sans"/>
                <a:cs typeface="Open Sans"/>
                <a:sym typeface="Open Sans"/>
              </a:rPr>
              <a:t>     </a:t>
            </a:r>
          </a:p>
          <a:p>
            <a:pPr algn="l">
              <a:lnSpc>
                <a:spcPts val="2814"/>
              </a:lnSpc>
            </a:pPr>
            <a:r>
              <a:rPr lang="en-US" sz="2010" spc="18">
                <a:solidFill>
                  <a:srgbClr val="000000"/>
                </a:solidFill>
                <a:latin typeface="Open Sans"/>
                <a:ea typeface="Open Sans"/>
                <a:cs typeface="Open Sans"/>
                <a:sym typeface="Open Sans"/>
              </a:rPr>
              <a:t>      • Grille </a:t>
            </a:r>
          </a:p>
          <a:p>
            <a:pPr algn="l">
              <a:lnSpc>
                <a:spcPts val="2814"/>
              </a:lnSpc>
            </a:pPr>
            <a:r>
              <a:rPr lang="en-US" sz="2010" spc="18">
                <a:solidFill>
                  <a:srgbClr val="000000"/>
                </a:solidFill>
                <a:latin typeface="Open Sans"/>
                <a:ea typeface="Open Sans"/>
                <a:cs typeface="Open Sans"/>
                <a:sym typeface="Open Sans"/>
              </a:rPr>
              <a:t> </a:t>
            </a:r>
          </a:p>
          <a:p>
            <a:pPr algn="l">
              <a:lnSpc>
                <a:spcPts val="2814"/>
              </a:lnSpc>
            </a:pPr>
            <a:r>
              <a:rPr lang="en-US" sz="2010" spc="18">
                <a:solidFill>
                  <a:srgbClr val="000000"/>
                </a:solidFill>
                <a:latin typeface="Open Sans"/>
                <a:ea typeface="Open Sans"/>
                <a:cs typeface="Open Sans"/>
                <a:sym typeface="Open Sans"/>
              </a:rPr>
              <a:t>      • Accordéons : Pico.css propose des accordéons pour afficher ou masquer du contenu.(Menu hamburger)</a:t>
            </a:r>
          </a:p>
          <a:p>
            <a:pPr algn="l">
              <a:lnSpc>
                <a:spcPts val="2814"/>
              </a:lnSpc>
            </a:pPr>
            <a:endParaRPr lang="en-US" sz="2010" spc="18">
              <a:solidFill>
                <a:srgbClr val="000000"/>
              </a:solidFill>
              <a:latin typeface="Open Sans"/>
              <a:ea typeface="Open Sans"/>
              <a:cs typeface="Open Sans"/>
              <a:sym typeface="Open Sans"/>
            </a:endParaRPr>
          </a:p>
          <a:p>
            <a:pPr algn="l">
              <a:lnSpc>
                <a:spcPts val="2118"/>
              </a:lnSpc>
            </a:pPr>
            <a:endParaRPr lang="en-US" sz="2010" spc="18">
              <a:solidFill>
                <a:srgbClr val="000000"/>
              </a:solidFill>
              <a:latin typeface="Open Sans"/>
              <a:ea typeface="Open Sans"/>
              <a:cs typeface="Open Sans"/>
              <a:sym typeface="Open Sans"/>
            </a:endParaRPr>
          </a:p>
          <a:p>
            <a:pPr algn="l">
              <a:lnSpc>
                <a:spcPts val="1978"/>
              </a:lnSpc>
            </a:pPr>
            <a:endParaRPr lang="en-US" sz="2010" spc="18">
              <a:solidFill>
                <a:srgbClr val="000000"/>
              </a:solidFill>
              <a:latin typeface="Open Sans"/>
              <a:ea typeface="Open Sans"/>
              <a:cs typeface="Open Sans"/>
              <a:sym typeface="Open Sans"/>
            </a:endParaRPr>
          </a:p>
        </p:txBody>
      </p:sp>
      <p:sp>
        <p:nvSpPr>
          <p:cNvPr id="13" name="TextBox 13"/>
          <p:cNvSpPr txBox="1"/>
          <p:nvPr/>
        </p:nvSpPr>
        <p:spPr>
          <a:xfrm>
            <a:off x="17025565" y="9747348"/>
            <a:ext cx="951961" cy="281200"/>
          </a:xfrm>
          <a:prstGeom prst="rect">
            <a:avLst/>
          </a:prstGeom>
        </p:spPr>
        <p:txBody>
          <a:bodyPr lIns="0" tIns="0" rIns="0" bIns="0" rtlCol="0" anchor="t">
            <a:spAutoFit/>
          </a:bodyPr>
          <a:lstStyle/>
          <a:p>
            <a:pPr algn="r">
              <a:lnSpc>
                <a:spcPts val="2357"/>
              </a:lnSpc>
            </a:pPr>
            <a:r>
              <a:rPr lang="en-US" sz="1309" b="1" spc="12">
                <a:solidFill>
                  <a:srgbClr val="000000"/>
                </a:solidFill>
                <a:latin typeface="Open Sans Bold"/>
                <a:ea typeface="Open Sans Bold"/>
                <a:cs typeface="Open Sans Bold"/>
                <a:sym typeface="Open Sans Bold"/>
              </a:rPr>
              <a:t>6</a:t>
            </a:r>
          </a:p>
        </p:txBody>
      </p:sp>
      <p:sp>
        <p:nvSpPr>
          <p:cNvPr id="14" name="TextBox 14"/>
          <p:cNvSpPr txBox="1"/>
          <p:nvPr/>
        </p:nvSpPr>
        <p:spPr>
          <a:xfrm>
            <a:off x="1774503" y="486351"/>
            <a:ext cx="652490" cy="474599"/>
          </a:xfrm>
          <a:prstGeom prst="rect">
            <a:avLst/>
          </a:prstGeom>
        </p:spPr>
        <p:txBody>
          <a:bodyPr lIns="0" tIns="0" rIns="0" bIns="0" rtlCol="0" anchor="t">
            <a:spAutoFit/>
          </a:bodyPr>
          <a:lstStyle/>
          <a:p>
            <a:pPr marL="0" lvl="0" indent="0" algn="l">
              <a:lnSpc>
                <a:spcPts val="3658"/>
              </a:lnSpc>
              <a:spcBef>
                <a:spcPct val="0"/>
              </a:spcBef>
            </a:pPr>
            <a:r>
              <a:rPr lang="en-US" sz="3100" b="1" u="none" strike="noStrike" spc="-62">
                <a:solidFill>
                  <a:srgbClr val="FF3131"/>
                </a:solidFill>
                <a:latin typeface="Cocomat Pro Bold"/>
                <a:ea typeface="Cocomat Pro Bold"/>
                <a:cs typeface="Cocomat Pro Bold"/>
                <a:sym typeface="Cocomat Pro Bold"/>
              </a:rPr>
              <a:t>4.</a:t>
            </a:r>
          </a:p>
        </p:txBody>
      </p:sp>
      <p:sp>
        <p:nvSpPr>
          <p:cNvPr id="15" name="TextBox 15"/>
          <p:cNvSpPr txBox="1"/>
          <p:nvPr/>
        </p:nvSpPr>
        <p:spPr>
          <a:xfrm>
            <a:off x="2426993" y="486351"/>
            <a:ext cx="2309004" cy="474599"/>
          </a:xfrm>
          <a:prstGeom prst="rect">
            <a:avLst/>
          </a:prstGeom>
        </p:spPr>
        <p:txBody>
          <a:bodyPr lIns="0" tIns="0" rIns="0" bIns="0" rtlCol="0" anchor="t">
            <a:spAutoFit/>
          </a:bodyPr>
          <a:lstStyle/>
          <a:p>
            <a:pPr marL="0" lvl="0" indent="0" algn="l">
              <a:lnSpc>
                <a:spcPts val="3658"/>
              </a:lnSpc>
              <a:spcBef>
                <a:spcPct val="0"/>
              </a:spcBef>
            </a:pPr>
            <a:endParaRPr/>
          </a:p>
        </p:txBody>
      </p:sp>
      <p:sp>
        <p:nvSpPr>
          <p:cNvPr id="16" name="TextBox 16"/>
          <p:cNvSpPr txBox="1"/>
          <p:nvPr/>
        </p:nvSpPr>
        <p:spPr>
          <a:xfrm>
            <a:off x="337136" y="2596882"/>
            <a:ext cx="5643783" cy="4444719"/>
          </a:xfrm>
          <a:prstGeom prst="rect">
            <a:avLst/>
          </a:prstGeom>
        </p:spPr>
        <p:txBody>
          <a:bodyPr lIns="0" tIns="0" rIns="0" bIns="0" rtlCol="0" anchor="t">
            <a:spAutoFit/>
          </a:bodyPr>
          <a:lstStyle/>
          <a:p>
            <a:pPr algn="l">
              <a:lnSpc>
                <a:spcPts val="2875"/>
              </a:lnSpc>
            </a:pPr>
            <a:r>
              <a:rPr lang="en-US" sz="2054" spc="18">
                <a:solidFill>
                  <a:srgbClr val="000000"/>
                </a:solidFill>
                <a:latin typeface="Open Sans"/>
                <a:ea typeface="Open Sans"/>
                <a:cs typeface="Open Sans"/>
                <a:sym typeface="Open Sans"/>
              </a:rPr>
              <a:t>  Mise en page fluide par défaut</a:t>
            </a:r>
          </a:p>
          <a:p>
            <a:pPr algn="l">
              <a:lnSpc>
                <a:spcPts val="3026"/>
              </a:lnSpc>
            </a:pPr>
            <a:r>
              <a:rPr lang="en-US" sz="2161" spc="19">
                <a:solidFill>
                  <a:srgbClr val="000000"/>
                </a:solidFill>
                <a:latin typeface="Open Sans"/>
                <a:ea typeface="Open Sans"/>
                <a:cs typeface="Open Sans"/>
                <a:sym typeface="Open Sans"/>
              </a:rPr>
              <a:t>Pico.css utilise des unités modernes (%, rem, vw, etc.) qui s’adaptent automatiquement à la taille de l’écran.</a:t>
            </a:r>
          </a:p>
          <a:p>
            <a:pPr algn="l">
              <a:lnSpc>
                <a:spcPts val="3026"/>
              </a:lnSpc>
            </a:pPr>
            <a:r>
              <a:rPr lang="en-US" sz="2161" spc="19">
                <a:solidFill>
                  <a:srgbClr val="000000"/>
                </a:solidFill>
                <a:latin typeface="Open Sans"/>
                <a:ea typeface="Open Sans"/>
                <a:cs typeface="Open Sans"/>
                <a:sym typeface="Open Sans"/>
              </a:rPr>
              <a:t> Résultat : le texte, les blocs et les composants se redimensionnent naturellement.</a:t>
            </a:r>
          </a:p>
          <a:p>
            <a:pPr algn="l">
              <a:lnSpc>
                <a:spcPts val="3026"/>
              </a:lnSpc>
            </a:pPr>
            <a:endParaRPr lang="en-US" sz="2161" spc="19">
              <a:solidFill>
                <a:srgbClr val="000000"/>
              </a:solidFill>
              <a:latin typeface="Open Sans"/>
              <a:ea typeface="Open Sans"/>
              <a:cs typeface="Open Sans"/>
              <a:sym typeface="Open Sans"/>
            </a:endParaRPr>
          </a:p>
          <a:p>
            <a:pPr algn="l">
              <a:lnSpc>
                <a:spcPts val="3026"/>
              </a:lnSpc>
            </a:pPr>
            <a:endParaRPr lang="en-US" sz="2161" spc="19">
              <a:solidFill>
                <a:srgbClr val="000000"/>
              </a:solidFill>
              <a:latin typeface="Open Sans"/>
              <a:ea typeface="Open Sans"/>
              <a:cs typeface="Open Sans"/>
              <a:sym typeface="Open Sans"/>
            </a:endParaRPr>
          </a:p>
          <a:p>
            <a:pPr algn="l">
              <a:lnSpc>
                <a:spcPts val="3026"/>
              </a:lnSpc>
            </a:pPr>
            <a:r>
              <a:rPr lang="en-US" sz="2161" spc="19">
                <a:solidFill>
                  <a:srgbClr val="000000"/>
                </a:solidFill>
                <a:latin typeface="Open Sans"/>
                <a:ea typeface="Open Sans"/>
                <a:cs typeface="Open Sans"/>
                <a:sym typeface="Open Sans"/>
              </a:rPr>
              <a:t>Le Framework fournit des conteneurs prêts à l’emploi </a:t>
            </a:r>
          </a:p>
          <a:p>
            <a:pPr algn="l">
              <a:lnSpc>
                <a:spcPts val="2424"/>
              </a:lnSpc>
            </a:pPr>
            <a:endParaRPr lang="en-US" sz="2161" spc="19">
              <a:solidFill>
                <a:srgbClr val="000000"/>
              </a:solidFill>
              <a:latin typeface="Open Sans"/>
              <a:ea typeface="Open Sans"/>
              <a:cs typeface="Open Sans"/>
              <a:sym typeface="Open Sans"/>
            </a:endParaRPr>
          </a:p>
        </p:txBody>
      </p:sp>
      <p:sp>
        <p:nvSpPr>
          <p:cNvPr id="17" name="TextBox 17"/>
          <p:cNvSpPr txBox="1"/>
          <p:nvPr/>
        </p:nvSpPr>
        <p:spPr>
          <a:xfrm>
            <a:off x="1550664" y="1454574"/>
            <a:ext cx="2881204" cy="871733"/>
          </a:xfrm>
          <a:prstGeom prst="rect">
            <a:avLst/>
          </a:prstGeom>
        </p:spPr>
        <p:txBody>
          <a:bodyPr lIns="0" tIns="0" rIns="0" bIns="0" rtlCol="0" anchor="t">
            <a:spAutoFit/>
          </a:bodyPr>
          <a:lstStyle/>
          <a:p>
            <a:pPr algn="ctr">
              <a:lnSpc>
                <a:spcPts val="2303"/>
              </a:lnSpc>
            </a:pPr>
            <a:endParaRPr/>
          </a:p>
          <a:p>
            <a:pPr algn="ctr">
              <a:lnSpc>
                <a:spcPts val="2303"/>
              </a:lnSpc>
            </a:pPr>
            <a:r>
              <a:rPr lang="en-US" sz="1952" b="1" spc="-39">
                <a:solidFill>
                  <a:srgbClr val="010101"/>
                </a:solidFill>
                <a:latin typeface="Cocomat Pro Bold"/>
                <a:ea typeface="Cocomat Pro Bold"/>
                <a:cs typeface="Cocomat Pro Bold"/>
                <a:sym typeface="Cocomat Pro Bold"/>
              </a:rPr>
              <a:t> 📱✨ RESPONSIVITÉ DANS PICO.CSS</a:t>
            </a:r>
          </a:p>
        </p:txBody>
      </p:sp>
      <p:sp>
        <p:nvSpPr>
          <p:cNvPr id="18" name="TextBox 18"/>
          <p:cNvSpPr txBox="1"/>
          <p:nvPr/>
        </p:nvSpPr>
        <p:spPr>
          <a:xfrm>
            <a:off x="7650191" y="196959"/>
            <a:ext cx="3095024" cy="1443233"/>
          </a:xfrm>
          <a:prstGeom prst="rect">
            <a:avLst/>
          </a:prstGeom>
        </p:spPr>
        <p:txBody>
          <a:bodyPr lIns="0" tIns="0" rIns="0" bIns="0" rtlCol="0" anchor="t">
            <a:spAutoFit/>
          </a:bodyPr>
          <a:lstStyle/>
          <a:p>
            <a:pPr algn="ctr">
              <a:lnSpc>
                <a:spcPts val="2303"/>
              </a:lnSpc>
            </a:pPr>
            <a:r>
              <a:rPr lang="en-US" sz="1952" b="1" spc="-39">
                <a:solidFill>
                  <a:srgbClr val="010101"/>
                </a:solidFill>
                <a:latin typeface="Cocomat Pro Bold"/>
                <a:ea typeface="Cocomat Pro Bold"/>
                <a:cs typeface="Cocomat Pro Bold"/>
                <a:sym typeface="Cocomat Pro Bold"/>
              </a:rPr>
              <a:t>🎨 PERSONNALISATIONS POSSIBLES AVEC PICO.CSS</a:t>
            </a:r>
          </a:p>
          <a:p>
            <a:pPr algn="ctr">
              <a:lnSpc>
                <a:spcPts val="2303"/>
              </a:lnSpc>
            </a:pPr>
            <a:endParaRPr lang="en-US" sz="1952" b="1" spc="-39">
              <a:solidFill>
                <a:srgbClr val="010101"/>
              </a:solidFill>
              <a:latin typeface="Cocomat Pro Bold"/>
              <a:ea typeface="Cocomat Pro Bold"/>
              <a:cs typeface="Cocomat Pro Bold"/>
              <a:sym typeface="Cocomat Pro Bold"/>
            </a:endParaRPr>
          </a:p>
        </p:txBody>
      </p:sp>
      <p:sp>
        <p:nvSpPr>
          <p:cNvPr id="19" name="TextBox 19"/>
          <p:cNvSpPr txBox="1"/>
          <p:nvPr/>
        </p:nvSpPr>
        <p:spPr>
          <a:xfrm>
            <a:off x="2384858" y="391101"/>
            <a:ext cx="2393274" cy="532236"/>
          </a:xfrm>
          <a:prstGeom prst="rect">
            <a:avLst/>
          </a:prstGeom>
        </p:spPr>
        <p:txBody>
          <a:bodyPr lIns="0" tIns="0" rIns="0" bIns="0" rtlCol="0" anchor="t">
            <a:spAutoFit/>
          </a:bodyPr>
          <a:lstStyle/>
          <a:p>
            <a:pPr algn="ctr">
              <a:lnSpc>
                <a:spcPts val="4536"/>
              </a:lnSpc>
              <a:spcBef>
                <a:spcPct val="0"/>
              </a:spcBef>
            </a:pPr>
            <a:r>
              <a:rPr lang="en-US" sz="2835" i="1" spc="25">
                <a:solidFill>
                  <a:srgbClr val="FF3131"/>
                </a:solidFill>
                <a:latin typeface="Open Sans Italics"/>
                <a:ea typeface="Open Sans Italics"/>
                <a:cs typeface="Open Sans Italics"/>
                <a:sym typeface="Open Sans Italics"/>
              </a:rPr>
              <a:t>Responsivité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AutoShape 2"/>
          <p:cNvSpPr/>
          <p:nvPr/>
        </p:nvSpPr>
        <p:spPr>
          <a:xfrm>
            <a:off x="848324" y="675122"/>
            <a:ext cx="5739825" cy="0"/>
          </a:xfrm>
          <a:prstGeom prst="line">
            <a:avLst/>
          </a:prstGeom>
          <a:ln w="38100" cap="flat">
            <a:solidFill>
              <a:srgbClr val="000000"/>
            </a:solidFill>
            <a:prstDash val="solid"/>
            <a:headEnd type="none" w="sm" len="sm"/>
            <a:tailEnd type="none" w="sm" len="sm"/>
          </a:ln>
        </p:spPr>
      </p:sp>
      <p:sp>
        <p:nvSpPr>
          <p:cNvPr id="3" name="AutoShape 3"/>
          <p:cNvSpPr/>
          <p:nvPr/>
        </p:nvSpPr>
        <p:spPr>
          <a:xfrm>
            <a:off x="6607199" y="1028700"/>
            <a:ext cx="0" cy="4362229"/>
          </a:xfrm>
          <a:prstGeom prst="line">
            <a:avLst/>
          </a:prstGeom>
          <a:ln w="38100" cap="flat">
            <a:solidFill>
              <a:srgbClr val="000000"/>
            </a:solidFill>
            <a:prstDash val="solid"/>
            <a:headEnd type="none" w="sm" len="sm"/>
            <a:tailEnd type="none" w="sm" len="sm"/>
          </a:ln>
        </p:spPr>
      </p:sp>
      <p:sp>
        <p:nvSpPr>
          <p:cNvPr id="4" name="AutoShape 4"/>
          <p:cNvSpPr/>
          <p:nvPr/>
        </p:nvSpPr>
        <p:spPr>
          <a:xfrm>
            <a:off x="6569099" y="5777964"/>
            <a:ext cx="0" cy="4362229"/>
          </a:xfrm>
          <a:prstGeom prst="line">
            <a:avLst/>
          </a:prstGeom>
          <a:ln w="38100" cap="flat">
            <a:solidFill>
              <a:srgbClr val="000000"/>
            </a:solidFill>
            <a:prstDash val="solid"/>
            <a:headEnd type="none" w="sm" len="sm"/>
            <a:tailEnd type="none" w="sm" len="sm"/>
          </a:ln>
        </p:spPr>
      </p:sp>
      <p:sp>
        <p:nvSpPr>
          <p:cNvPr id="5" name="Freeform 5"/>
          <p:cNvSpPr/>
          <p:nvPr/>
        </p:nvSpPr>
        <p:spPr>
          <a:xfrm>
            <a:off x="6855276" y="6486342"/>
            <a:ext cx="11432724" cy="3542205"/>
          </a:xfrm>
          <a:custGeom>
            <a:avLst/>
            <a:gdLst/>
            <a:ahLst/>
            <a:cxnLst/>
            <a:rect l="l" t="t" r="r" b="b"/>
            <a:pathLst>
              <a:path w="11432724" h="3542205">
                <a:moveTo>
                  <a:pt x="0" y="0"/>
                </a:moveTo>
                <a:lnTo>
                  <a:pt x="11432724" y="0"/>
                </a:lnTo>
                <a:lnTo>
                  <a:pt x="11432724" y="3542205"/>
                </a:lnTo>
                <a:lnTo>
                  <a:pt x="0" y="3542205"/>
                </a:lnTo>
                <a:lnTo>
                  <a:pt x="0" y="0"/>
                </a:lnTo>
                <a:close/>
              </a:path>
            </a:pathLst>
          </a:custGeom>
          <a:blipFill>
            <a:blip r:embed="rId2"/>
            <a:stretch>
              <a:fillRect l="-7631" t="-15340" r="-20764" b="-7446"/>
            </a:stretch>
          </a:blipFill>
        </p:spPr>
      </p:sp>
      <p:sp>
        <p:nvSpPr>
          <p:cNvPr id="6" name="TextBox 6"/>
          <p:cNvSpPr txBox="1"/>
          <p:nvPr/>
        </p:nvSpPr>
        <p:spPr>
          <a:xfrm>
            <a:off x="17040249" y="9747348"/>
            <a:ext cx="937277" cy="281200"/>
          </a:xfrm>
          <a:prstGeom prst="rect">
            <a:avLst/>
          </a:prstGeom>
        </p:spPr>
        <p:txBody>
          <a:bodyPr lIns="0" tIns="0" rIns="0" bIns="0" rtlCol="0" anchor="t">
            <a:spAutoFit/>
          </a:bodyPr>
          <a:lstStyle/>
          <a:p>
            <a:pPr algn="r">
              <a:lnSpc>
                <a:spcPts val="2357"/>
              </a:lnSpc>
            </a:pPr>
            <a:r>
              <a:rPr lang="en-US" sz="1309" b="1" spc="12">
                <a:solidFill>
                  <a:srgbClr val="000000"/>
                </a:solidFill>
                <a:latin typeface="Open Sans Bold"/>
                <a:ea typeface="Open Sans Bold"/>
                <a:cs typeface="Open Sans Bold"/>
                <a:sym typeface="Open Sans Bold"/>
              </a:rPr>
              <a:t>7</a:t>
            </a:r>
          </a:p>
        </p:txBody>
      </p:sp>
      <p:sp>
        <p:nvSpPr>
          <p:cNvPr id="7" name="TextBox 7"/>
          <p:cNvSpPr txBox="1"/>
          <p:nvPr/>
        </p:nvSpPr>
        <p:spPr>
          <a:xfrm>
            <a:off x="831942" y="181473"/>
            <a:ext cx="475652" cy="474599"/>
          </a:xfrm>
          <a:prstGeom prst="rect">
            <a:avLst/>
          </a:prstGeom>
        </p:spPr>
        <p:txBody>
          <a:bodyPr lIns="0" tIns="0" rIns="0" bIns="0" rtlCol="0" anchor="t">
            <a:spAutoFit/>
          </a:bodyPr>
          <a:lstStyle/>
          <a:p>
            <a:pPr marL="0" lvl="0" indent="0" algn="l">
              <a:lnSpc>
                <a:spcPts val="3658"/>
              </a:lnSpc>
              <a:spcBef>
                <a:spcPct val="0"/>
              </a:spcBef>
            </a:pPr>
            <a:r>
              <a:rPr lang="en-US" sz="3100" b="1" u="none" strike="noStrike" spc="-62">
                <a:solidFill>
                  <a:srgbClr val="000000"/>
                </a:solidFill>
                <a:latin typeface="Cocomat Pro Bold"/>
                <a:ea typeface="Cocomat Pro Bold"/>
                <a:cs typeface="Cocomat Pro Bold"/>
                <a:sym typeface="Cocomat Pro Bold"/>
              </a:rPr>
              <a:t>5.</a:t>
            </a:r>
          </a:p>
        </p:txBody>
      </p:sp>
      <p:sp>
        <p:nvSpPr>
          <p:cNvPr id="8" name="TextBox 8"/>
          <p:cNvSpPr txBox="1"/>
          <p:nvPr/>
        </p:nvSpPr>
        <p:spPr>
          <a:xfrm>
            <a:off x="1385215" y="181473"/>
            <a:ext cx="5926569" cy="474599"/>
          </a:xfrm>
          <a:prstGeom prst="rect">
            <a:avLst/>
          </a:prstGeom>
        </p:spPr>
        <p:txBody>
          <a:bodyPr lIns="0" tIns="0" rIns="0" bIns="0" rtlCol="0" anchor="t">
            <a:spAutoFit/>
          </a:bodyPr>
          <a:lstStyle/>
          <a:p>
            <a:pPr marL="0" lvl="0" indent="0" algn="l">
              <a:lnSpc>
                <a:spcPts val="3658"/>
              </a:lnSpc>
              <a:spcBef>
                <a:spcPct val="0"/>
              </a:spcBef>
            </a:pPr>
            <a:r>
              <a:rPr lang="en-US" sz="3100" b="1" spc="-62">
                <a:solidFill>
                  <a:srgbClr val="000000"/>
                </a:solidFill>
                <a:latin typeface="Cocomat Pro Bold"/>
                <a:ea typeface="Cocomat Pro Bold"/>
                <a:cs typeface="Cocomat Pro Bold"/>
                <a:sym typeface="Cocomat Pro Bold"/>
              </a:rPr>
              <a:t>AVANTAGES DE PICO.CSS</a:t>
            </a:r>
          </a:p>
        </p:txBody>
      </p:sp>
      <p:sp>
        <p:nvSpPr>
          <p:cNvPr id="9" name="TextBox 9"/>
          <p:cNvSpPr txBox="1"/>
          <p:nvPr/>
        </p:nvSpPr>
        <p:spPr>
          <a:xfrm>
            <a:off x="14149242" y="1162050"/>
            <a:ext cx="2881204" cy="300233"/>
          </a:xfrm>
          <a:prstGeom prst="rect">
            <a:avLst/>
          </a:prstGeom>
        </p:spPr>
        <p:txBody>
          <a:bodyPr lIns="0" tIns="0" rIns="0" bIns="0" rtlCol="0" anchor="t">
            <a:spAutoFit/>
          </a:bodyPr>
          <a:lstStyle/>
          <a:p>
            <a:pPr algn="ctr">
              <a:lnSpc>
                <a:spcPts val="2303"/>
              </a:lnSpc>
            </a:pPr>
            <a:r>
              <a:rPr lang="en-US" sz="1952" b="1" spc="-39">
                <a:solidFill>
                  <a:srgbClr val="010101"/>
                </a:solidFill>
                <a:latin typeface="Cocomat Pro Bold"/>
                <a:ea typeface="Cocomat Pro Bold"/>
                <a:cs typeface="Cocomat Pro Bold"/>
                <a:sym typeface="Cocomat Pro Bold"/>
              </a:rPr>
              <a:t>ÉVOLUTIVITÉ</a:t>
            </a:r>
          </a:p>
        </p:txBody>
      </p:sp>
      <p:sp>
        <p:nvSpPr>
          <p:cNvPr id="10" name="TextBox 10"/>
          <p:cNvSpPr txBox="1"/>
          <p:nvPr/>
        </p:nvSpPr>
        <p:spPr>
          <a:xfrm>
            <a:off x="1299604" y="5873356"/>
            <a:ext cx="3909914" cy="585983"/>
          </a:xfrm>
          <a:prstGeom prst="rect">
            <a:avLst/>
          </a:prstGeom>
        </p:spPr>
        <p:txBody>
          <a:bodyPr lIns="0" tIns="0" rIns="0" bIns="0" rtlCol="0" anchor="t">
            <a:spAutoFit/>
          </a:bodyPr>
          <a:lstStyle/>
          <a:p>
            <a:pPr algn="ctr">
              <a:lnSpc>
                <a:spcPts val="2303"/>
              </a:lnSpc>
            </a:pPr>
            <a:r>
              <a:rPr lang="en-US" sz="1952" b="1" spc="-39">
                <a:solidFill>
                  <a:srgbClr val="010101"/>
                </a:solidFill>
                <a:latin typeface="Cocomat Pro Bold"/>
                <a:ea typeface="Cocomat Pro Bold"/>
                <a:cs typeface="Cocomat Pro Bold"/>
                <a:sym typeface="Cocomat Pro Bold"/>
              </a:rPr>
              <a:t>FLEXIBILITÉ ET PERSONNALISATION</a:t>
            </a:r>
          </a:p>
        </p:txBody>
      </p:sp>
      <p:sp>
        <p:nvSpPr>
          <p:cNvPr id="11" name="TextBox 11"/>
          <p:cNvSpPr txBox="1"/>
          <p:nvPr/>
        </p:nvSpPr>
        <p:spPr>
          <a:xfrm>
            <a:off x="1889718" y="847309"/>
            <a:ext cx="3319799" cy="664210"/>
          </a:xfrm>
          <a:prstGeom prst="rect">
            <a:avLst/>
          </a:prstGeom>
        </p:spPr>
        <p:txBody>
          <a:bodyPr lIns="0" tIns="0" rIns="0" bIns="0" rtlCol="0" anchor="t">
            <a:spAutoFit/>
          </a:bodyPr>
          <a:lstStyle/>
          <a:p>
            <a:pPr algn="ctr">
              <a:lnSpc>
                <a:spcPts val="2654"/>
              </a:lnSpc>
            </a:pPr>
            <a:r>
              <a:rPr lang="en-US" sz="2249" b="1" spc="-44">
                <a:solidFill>
                  <a:srgbClr val="010101"/>
                </a:solidFill>
                <a:latin typeface="Cocomat Pro Bold"/>
                <a:ea typeface="Cocomat Pro Bold"/>
                <a:cs typeface="Cocomat Pro Bold"/>
                <a:sym typeface="Cocomat Pro Bold"/>
              </a:rPr>
              <a:t>RÉUTILISATION ET MAINTENANCE</a:t>
            </a:r>
          </a:p>
        </p:txBody>
      </p:sp>
      <p:sp>
        <p:nvSpPr>
          <p:cNvPr id="12" name="TextBox 12"/>
          <p:cNvSpPr txBox="1"/>
          <p:nvPr/>
        </p:nvSpPr>
        <p:spPr>
          <a:xfrm>
            <a:off x="7703398" y="1019175"/>
            <a:ext cx="2881204" cy="585983"/>
          </a:xfrm>
          <a:prstGeom prst="rect">
            <a:avLst/>
          </a:prstGeom>
        </p:spPr>
        <p:txBody>
          <a:bodyPr lIns="0" tIns="0" rIns="0" bIns="0" rtlCol="0" anchor="t">
            <a:spAutoFit/>
          </a:bodyPr>
          <a:lstStyle/>
          <a:p>
            <a:pPr algn="ctr">
              <a:lnSpc>
                <a:spcPts val="2303"/>
              </a:lnSpc>
            </a:pPr>
            <a:r>
              <a:rPr lang="en-US" sz="1952" b="1" spc="-39">
                <a:solidFill>
                  <a:srgbClr val="010101"/>
                </a:solidFill>
                <a:latin typeface="Cocomat Pro Bold"/>
                <a:ea typeface="Cocomat Pro Bold"/>
                <a:cs typeface="Cocomat Pro Bold"/>
                <a:sym typeface="Cocomat Pro Bold"/>
              </a:rPr>
              <a:t>COHÉRENCE ET ORGANISATION</a:t>
            </a:r>
          </a:p>
        </p:txBody>
      </p:sp>
      <p:sp>
        <p:nvSpPr>
          <p:cNvPr id="13" name="TextBox 13"/>
          <p:cNvSpPr txBox="1"/>
          <p:nvPr/>
        </p:nvSpPr>
        <p:spPr>
          <a:xfrm>
            <a:off x="802440" y="1548008"/>
            <a:ext cx="5623784" cy="3988322"/>
          </a:xfrm>
          <a:prstGeom prst="rect">
            <a:avLst/>
          </a:prstGeom>
        </p:spPr>
        <p:txBody>
          <a:bodyPr lIns="0" tIns="0" rIns="0" bIns="0" rtlCol="0" anchor="t">
            <a:spAutoFit/>
          </a:bodyPr>
          <a:lstStyle/>
          <a:p>
            <a:pPr algn="just">
              <a:lnSpc>
                <a:spcPts val="2427"/>
              </a:lnSpc>
            </a:pPr>
            <a:r>
              <a:rPr lang="en-US" sz="1517" spc="13">
                <a:solidFill>
                  <a:srgbClr val="000000"/>
                </a:solidFill>
                <a:latin typeface="Open Sans"/>
                <a:ea typeface="Open Sans"/>
                <a:cs typeface="Open Sans"/>
                <a:sym typeface="Open Sans"/>
              </a:rPr>
              <a:t>Une variable peut être réutilisée dans tout le projet, ce qui rend le code facile à mettre à jour.</a:t>
            </a:r>
          </a:p>
          <a:p>
            <a:pPr algn="just">
              <a:lnSpc>
                <a:spcPts val="2427"/>
              </a:lnSpc>
            </a:pPr>
            <a:r>
              <a:rPr lang="en-US" sz="1517" spc="13">
                <a:solidFill>
                  <a:srgbClr val="000000"/>
                </a:solidFill>
                <a:latin typeface="Open Sans"/>
                <a:ea typeface="Open Sans"/>
                <a:cs typeface="Open Sans"/>
                <a:sym typeface="Open Sans"/>
              </a:rPr>
              <a:t>👉 Pourquoi c’est un avantage ?</a:t>
            </a:r>
          </a:p>
          <a:p>
            <a:pPr algn="just">
              <a:lnSpc>
                <a:spcPts val="2427"/>
              </a:lnSpc>
            </a:pPr>
            <a:endParaRPr lang="en-US" sz="1517" spc="13">
              <a:solidFill>
                <a:srgbClr val="000000"/>
              </a:solidFill>
              <a:latin typeface="Open Sans"/>
              <a:ea typeface="Open Sans"/>
              <a:cs typeface="Open Sans"/>
              <a:sym typeface="Open Sans"/>
            </a:endParaRPr>
          </a:p>
          <a:p>
            <a:pPr algn="just">
              <a:lnSpc>
                <a:spcPts val="2427"/>
              </a:lnSpc>
            </a:pPr>
            <a:r>
              <a:rPr lang="en-US" sz="1517" spc="13">
                <a:solidFill>
                  <a:srgbClr val="000000"/>
                </a:solidFill>
                <a:latin typeface="Open Sans"/>
                <a:ea typeface="Open Sans"/>
                <a:cs typeface="Open Sans"/>
                <a:sym typeface="Open Sans"/>
              </a:rPr>
              <a:t>*Tu modifies une variable → tout le style associé se met à jour.</a:t>
            </a:r>
          </a:p>
          <a:p>
            <a:pPr algn="just">
              <a:lnSpc>
                <a:spcPts val="2427"/>
              </a:lnSpc>
            </a:pPr>
            <a:r>
              <a:rPr lang="en-US" sz="1517" spc="13">
                <a:solidFill>
                  <a:srgbClr val="000000"/>
                </a:solidFill>
                <a:latin typeface="Open Sans"/>
                <a:ea typeface="Open Sans"/>
                <a:cs typeface="Open Sans"/>
                <a:sym typeface="Open Sans"/>
              </a:rPr>
              <a:t>*Tu évites de changer 15 fichiers CSS pour une seule modification.</a:t>
            </a:r>
          </a:p>
          <a:p>
            <a:pPr algn="just">
              <a:lnSpc>
                <a:spcPts val="2427"/>
              </a:lnSpc>
            </a:pPr>
            <a:r>
              <a:rPr lang="en-US" sz="1517" spc="13">
                <a:solidFill>
                  <a:srgbClr val="000000"/>
                </a:solidFill>
                <a:latin typeface="Open Sans"/>
                <a:ea typeface="Open Sans"/>
                <a:cs typeface="Open Sans"/>
                <a:sym typeface="Open Sans"/>
              </a:rPr>
              <a:t>*Idéal pour des projets qui évoluent ou pour un travail en équipe.</a:t>
            </a:r>
          </a:p>
          <a:p>
            <a:pPr algn="just">
              <a:lnSpc>
                <a:spcPts val="2427"/>
              </a:lnSpc>
            </a:pPr>
            <a:r>
              <a:rPr lang="en-US" sz="1517" spc="13">
                <a:solidFill>
                  <a:srgbClr val="000000"/>
                </a:solidFill>
                <a:latin typeface="Open Sans"/>
                <a:ea typeface="Open Sans"/>
                <a:cs typeface="Open Sans"/>
                <a:sym typeface="Open Sans"/>
              </a:rPr>
              <a:t>Exemple :</a:t>
            </a:r>
          </a:p>
          <a:p>
            <a:pPr algn="just">
              <a:lnSpc>
                <a:spcPts val="2427"/>
              </a:lnSpc>
            </a:pPr>
            <a:r>
              <a:rPr lang="en-US" sz="1517" spc="14">
                <a:solidFill>
                  <a:srgbClr val="000000"/>
                </a:solidFill>
                <a:latin typeface="Open Sans"/>
                <a:ea typeface="Open Sans"/>
                <a:cs typeface="Open Sans"/>
                <a:sym typeface="Open Sans"/>
              </a:rPr>
              <a:t>Changer --radius (arrondi des boutons) va modifier tous les boutons d’un coup.</a:t>
            </a:r>
          </a:p>
        </p:txBody>
      </p:sp>
      <p:sp>
        <p:nvSpPr>
          <p:cNvPr id="14" name="TextBox 14"/>
          <p:cNvSpPr txBox="1"/>
          <p:nvPr/>
        </p:nvSpPr>
        <p:spPr>
          <a:xfrm>
            <a:off x="616028" y="6601508"/>
            <a:ext cx="5277065" cy="3538685"/>
          </a:xfrm>
          <a:prstGeom prst="rect">
            <a:avLst/>
          </a:prstGeom>
        </p:spPr>
        <p:txBody>
          <a:bodyPr lIns="0" tIns="0" rIns="0" bIns="0" rtlCol="0" anchor="t">
            <a:spAutoFit/>
          </a:bodyPr>
          <a:lstStyle/>
          <a:p>
            <a:pPr algn="just">
              <a:lnSpc>
                <a:spcPts val="2150"/>
              </a:lnSpc>
            </a:pPr>
            <a:r>
              <a:rPr lang="en-US" sz="1343" i="1" spc="12">
                <a:solidFill>
                  <a:srgbClr val="000000"/>
                </a:solidFill>
                <a:latin typeface="Open Sans Italics"/>
                <a:ea typeface="Open Sans Italics"/>
                <a:cs typeface="Open Sans Italics"/>
                <a:sym typeface="Open Sans Italics"/>
              </a:rPr>
              <a:t>Pico.css propose plus de 130 variables CSS (comme des couleurs, tailles, espacements, ombres, etc.)</a:t>
            </a:r>
          </a:p>
          <a:p>
            <a:pPr algn="just">
              <a:lnSpc>
                <a:spcPts val="2150"/>
              </a:lnSpc>
            </a:pPr>
            <a:r>
              <a:rPr lang="en-US" sz="1343" i="1" spc="12">
                <a:solidFill>
                  <a:srgbClr val="000000"/>
                </a:solidFill>
                <a:latin typeface="Open Sans Italics"/>
                <a:ea typeface="Open Sans Italics"/>
                <a:cs typeface="Open Sans Italics"/>
                <a:sym typeface="Open Sans Italics"/>
              </a:rPr>
              <a:t>➡ Ces variables te permettent de changer l’apparence du site sans modifier le code du framework, seulement en ajustant les valeurs dans :root.</a:t>
            </a:r>
          </a:p>
          <a:p>
            <a:pPr algn="just">
              <a:lnSpc>
                <a:spcPts val="2150"/>
              </a:lnSpc>
            </a:pPr>
            <a:endParaRPr lang="en-US" sz="1343" i="1" spc="12">
              <a:solidFill>
                <a:srgbClr val="000000"/>
              </a:solidFill>
              <a:latin typeface="Open Sans Italics"/>
              <a:ea typeface="Open Sans Italics"/>
              <a:cs typeface="Open Sans Italics"/>
              <a:sym typeface="Open Sans Italics"/>
            </a:endParaRPr>
          </a:p>
          <a:p>
            <a:pPr algn="just">
              <a:lnSpc>
                <a:spcPts val="2150"/>
              </a:lnSpc>
            </a:pPr>
            <a:r>
              <a:rPr lang="en-US" sz="1343" i="1" spc="12">
                <a:solidFill>
                  <a:srgbClr val="000000"/>
                </a:solidFill>
                <a:latin typeface="Open Sans Italics"/>
                <a:ea typeface="Open Sans Italics"/>
                <a:cs typeface="Open Sans Italics"/>
                <a:sym typeface="Open Sans Italics"/>
              </a:rPr>
              <a:t>👉 Pourquoi c’est un avantage ?</a:t>
            </a:r>
          </a:p>
          <a:p>
            <a:pPr algn="just">
              <a:lnSpc>
                <a:spcPts val="2150"/>
              </a:lnSpc>
            </a:pPr>
            <a:r>
              <a:rPr lang="en-US" sz="1343" spc="12">
                <a:solidFill>
                  <a:srgbClr val="000000"/>
                </a:solidFill>
                <a:latin typeface="Open Sans"/>
                <a:ea typeface="Open Sans"/>
                <a:cs typeface="Open Sans"/>
                <a:sym typeface="Open Sans"/>
              </a:rPr>
              <a:t>*</a:t>
            </a:r>
            <a:r>
              <a:rPr lang="en-US" sz="1343" i="1" spc="12">
                <a:solidFill>
                  <a:srgbClr val="000000"/>
                </a:solidFill>
                <a:latin typeface="Open Sans Italics"/>
                <a:ea typeface="Open Sans Italics"/>
                <a:cs typeface="Open Sans Italics"/>
                <a:sym typeface="Open Sans Italics"/>
              </a:rPr>
              <a:t>Tu peux personnaliser ton site très rapidement.</a:t>
            </a:r>
          </a:p>
          <a:p>
            <a:pPr algn="just">
              <a:lnSpc>
                <a:spcPts val="2150"/>
              </a:lnSpc>
            </a:pPr>
            <a:r>
              <a:rPr lang="en-US" sz="1343" spc="12">
                <a:solidFill>
                  <a:srgbClr val="000000"/>
                </a:solidFill>
                <a:latin typeface="Open Sans"/>
                <a:ea typeface="Open Sans"/>
                <a:cs typeface="Open Sans"/>
                <a:sym typeface="Open Sans"/>
              </a:rPr>
              <a:t>*</a:t>
            </a:r>
            <a:r>
              <a:rPr lang="en-US" sz="1343" i="1" spc="12">
                <a:solidFill>
                  <a:srgbClr val="000000"/>
                </a:solidFill>
                <a:latin typeface="Open Sans Italics"/>
                <a:ea typeface="Open Sans Italics"/>
                <a:cs typeface="Open Sans Italics"/>
                <a:sym typeface="Open Sans Italics"/>
              </a:rPr>
              <a:t>Tu changes un seul paramètre et tout le site se met à jour.</a:t>
            </a:r>
          </a:p>
          <a:p>
            <a:pPr algn="just">
              <a:lnSpc>
                <a:spcPts val="2150"/>
              </a:lnSpc>
            </a:pPr>
            <a:r>
              <a:rPr lang="en-US" sz="1343" spc="12">
                <a:solidFill>
                  <a:srgbClr val="000000"/>
                </a:solidFill>
                <a:latin typeface="Open Sans"/>
                <a:ea typeface="Open Sans"/>
                <a:cs typeface="Open Sans"/>
                <a:sym typeface="Open Sans"/>
              </a:rPr>
              <a:t>*</a:t>
            </a:r>
            <a:r>
              <a:rPr lang="en-US" sz="1343" i="1" spc="12">
                <a:solidFill>
                  <a:srgbClr val="000000"/>
                </a:solidFill>
                <a:latin typeface="Open Sans Italics"/>
                <a:ea typeface="Open Sans Italics"/>
                <a:cs typeface="Open Sans Italics"/>
                <a:sym typeface="Open Sans Italics"/>
              </a:rPr>
              <a:t>Tu gardes un style propre, élégant et uniforme.</a:t>
            </a:r>
          </a:p>
          <a:p>
            <a:pPr algn="just">
              <a:lnSpc>
                <a:spcPts val="2150"/>
              </a:lnSpc>
            </a:pPr>
            <a:r>
              <a:rPr lang="en-US" sz="1343" spc="12">
                <a:solidFill>
                  <a:srgbClr val="000000"/>
                </a:solidFill>
                <a:latin typeface="Open Sans"/>
                <a:ea typeface="Open Sans"/>
                <a:cs typeface="Open Sans"/>
                <a:sym typeface="Open Sans"/>
              </a:rPr>
              <a:t>  </a:t>
            </a:r>
            <a:r>
              <a:rPr lang="en-US" sz="1343" i="1" spc="12">
                <a:solidFill>
                  <a:srgbClr val="000000"/>
                </a:solidFill>
                <a:latin typeface="Open Sans Italics"/>
                <a:ea typeface="Open Sans Italics"/>
                <a:cs typeface="Open Sans Italics"/>
                <a:sym typeface="Open Sans Italics"/>
              </a:rPr>
              <a:t>Exemple simple :</a:t>
            </a:r>
          </a:p>
          <a:p>
            <a:pPr algn="just">
              <a:lnSpc>
                <a:spcPts val="2150"/>
              </a:lnSpc>
            </a:pPr>
            <a:r>
              <a:rPr lang="en-US" sz="1343" i="1" spc="12">
                <a:solidFill>
                  <a:srgbClr val="000000"/>
                </a:solidFill>
                <a:latin typeface="Open Sans Italics"/>
                <a:ea typeface="Open Sans Italics"/>
                <a:cs typeface="Open Sans Italics"/>
                <a:sym typeface="Open Sans Italics"/>
              </a:rPr>
              <a:t>Tu modifies --primary → toutes les couleurs principales du site changent automatiquement.</a:t>
            </a:r>
          </a:p>
        </p:txBody>
      </p:sp>
      <p:sp>
        <p:nvSpPr>
          <p:cNvPr id="15" name="TextBox 15"/>
          <p:cNvSpPr txBox="1"/>
          <p:nvPr/>
        </p:nvSpPr>
        <p:spPr>
          <a:xfrm>
            <a:off x="7311784" y="1820967"/>
            <a:ext cx="5559449" cy="3333750"/>
          </a:xfrm>
          <a:prstGeom prst="rect">
            <a:avLst/>
          </a:prstGeom>
        </p:spPr>
        <p:txBody>
          <a:bodyPr lIns="0" tIns="0" rIns="0" bIns="0" rtlCol="0" anchor="t">
            <a:spAutoFit/>
          </a:bodyPr>
          <a:lstStyle/>
          <a:p>
            <a:pPr algn="just">
              <a:lnSpc>
                <a:spcPts val="2400"/>
              </a:lnSpc>
            </a:pPr>
            <a:r>
              <a:rPr lang="en-US" sz="1500" spc="13">
                <a:solidFill>
                  <a:srgbClr val="000000"/>
                </a:solidFill>
                <a:latin typeface="Open Sans"/>
                <a:ea typeface="Open Sans"/>
                <a:cs typeface="Open Sans"/>
                <a:sym typeface="Open Sans"/>
              </a:rPr>
              <a:t>Comme toutes les couleurs, tailles, marges et polices passent par des variables centralisées, ton design reste cohérent partout.</a:t>
            </a:r>
          </a:p>
          <a:p>
            <a:pPr algn="just">
              <a:lnSpc>
                <a:spcPts val="2400"/>
              </a:lnSpc>
            </a:pPr>
            <a:endParaRPr lang="en-US" sz="1500" spc="13">
              <a:solidFill>
                <a:srgbClr val="000000"/>
              </a:solidFill>
              <a:latin typeface="Open Sans"/>
              <a:ea typeface="Open Sans"/>
              <a:cs typeface="Open Sans"/>
              <a:sym typeface="Open Sans"/>
            </a:endParaRPr>
          </a:p>
          <a:p>
            <a:pPr algn="just">
              <a:lnSpc>
                <a:spcPts val="2400"/>
              </a:lnSpc>
            </a:pPr>
            <a:r>
              <a:rPr lang="en-US" sz="1500" spc="13">
                <a:solidFill>
                  <a:srgbClr val="000000"/>
                </a:solidFill>
                <a:latin typeface="Open Sans"/>
                <a:ea typeface="Open Sans"/>
                <a:cs typeface="Open Sans"/>
                <a:sym typeface="Open Sans"/>
              </a:rPr>
              <a:t>👉 Pourquoi c’est un avantage ?</a:t>
            </a:r>
          </a:p>
          <a:p>
            <a:pPr algn="just">
              <a:lnSpc>
                <a:spcPts val="2400"/>
              </a:lnSpc>
            </a:pPr>
            <a:r>
              <a:rPr lang="en-US" sz="1500" spc="13">
                <a:solidFill>
                  <a:srgbClr val="000000"/>
                </a:solidFill>
                <a:latin typeface="Open Sans"/>
                <a:ea typeface="Open Sans"/>
                <a:cs typeface="Open Sans"/>
                <a:sym typeface="Open Sans"/>
              </a:rPr>
              <a:t>*Toutes tes pages ont le même style.</a:t>
            </a:r>
          </a:p>
          <a:p>
            <a:pPr algn="just">
              <a:lnSpc>
                <a:spcPts val="2400"/>
              </a:lnSpc>
            </a:pPr>
            <a:r>
              <a:rPr lang="en-US" sz="1500" spc="13">
                <a:solidFill>
                  <a:srgbClr val="000000"/>
                </a:solidFill>
                <a:latin typeface="Open Sans"/>
                <a:ea typeface="Open Sans"/>
                <a:cs typeface="Open Sans"/>
                <a:sym typeface="Open Sans"/>
              </a:rPr>
              <a:t>*Moins d’erreurs visuelles (ex : tailles de titres différentes).</a:t>
            </a:r>
          </a:p>
          <a:p>
            <a:pPr algn="just">
              <a:lnSpc>
                <a:spcPts val="2400"/>
              </a:lnSpc>
            </a:pPr>
            <a:r>
              <a:rPr lang="en-US" sz="1500" spc="13">
                <a:solidFill>
                  <a:srgbClr val="000000"/>
                </a:solidFill>
                <a:latin typeface="Open Sans"/>
                <a:ea typeface="Open Sans"/>
                <a:cs typeface="Open Sans"/>
                <a:sym typeface="Open Sans"/>
              </a:rPr>
              <a:t>*Le code reste organisé et facile à comprendre.</a:t>
            </a:r>
          </a:p>
          <a:p>
            <a:pPr algn="just">
              <a:lnSpc>
                <a:spcPts val="2400"/>
              </a:lnSpc>
            </a:pPr>
            <a:r>
              <a:rPr lang="en-US" sz="1500" spc="13">
                <a:solidFill>
                  <a:srgbClr val="000000"/>
                </a:solidFill>
                <a:latin typeface="Open Sans"/>
                <a:ea typeface="Open Sans"/>
                <a:cs typeface="Open Sans"/>
                <a:sym typeface="Open Sans"/>
              </a:rPr>
              <a:t>Exemple :</a:t>
            </a:r>
          </a:p>
          <a:p>
            <a:pPr algn="just">
              <a:lnSpc>
                <a:spcPts val="2400"/>
              </a:lnSpc>
            </a:pPr>
            <a:r>
              <a:rPr lang="en-US" sz="1500" spc="14">
                <a:solidFill>
                  <a:srgbClr val="000000"/>
                </a:solidFill>
                <a:latin typeface="Open Sans"/>
                <a:ea typeface="Open Sans"/>
                <a:cs typeface="Open Sans"/>
                <a:sym typeface="Open Sans"/>
              </a:rPr>
              <a:t>Si --spacing contrôle les espaces, tu as le même espacement partout au lieu de valeurs répétées.</a:t>
            </a:r>
          </a:p>
        </p:txBody>
      </p:sp>
      <p:sp>
        <p:nvSpPr>
          <p:cNvPr id="16" name="TextBox 16"/>
          <p:cNvSpPr txBox="1"/>
          <p:nvPr/>
        </p:nvSpPr>
        <p:spPr>
          <a:xfrm>
            <a:off x="13234842" y="1825250"/>
            <a:ext cx="5248399" cy="3716393"/>
          </a:xfrm>
          <a:prstGeom prst="rect">
            <a:avLst/>
          </a:prstGeom>
        </p:spPr>
        <p:txBody>
          <a:bodyPr lIns="0" tIns="0" rIns="0" bIns="0" rtlCol="0" anchor="t">
            <a:spAutoFit/>
          </a:bodyPr>
          <a:lstStyle/>
          <a:p>
            <a:pPr algn="just">
              <a:lnSpc>
                <a:spcPts val="2265"/>
              </a:lnSpc>
            </a:pPr>
            <a:r>
              <a:rPr lang="en-US" sz="1416" spc="12">
                <a:solidFill>
                  <a:srgbClr val="000000"/>
                </a:solidFill>
                <a:latin typeface="Open Sans"/>
                <a:ea typeface="Open Sans"/>
                <a:cs typeface="Open Sans"/>
                <a:sym typeface="Open Sans"/>
              </a:rPr>
              <a:t>Pico.css est conçu pour être :</a:t>
            </a:r>
          </a:p>
          <a:p>
            <a:pPr algn="just">
              <a:lnSpc>
                <a:spcPts val="2265"/>
              </a:lnSpc>
            </a:pPr>
            <a:r>
              <a:rPr lang="en-US" sz="1416" spc="12">
                <a:solidFill>
                  <a:srgbClr val="000000"/>
                </a:solidFill>
                <a:latin typeface="Open Sans"/>
                <a:ea typeface="Open Sans"/>
                <a:cs typeface="Open Sans"/>
                <a:sym typeface="Open Sans"/>
              </a:rPr>
              <a:t>-léger (rapide à charger)</a:t>
            </a:r>
          </a:p>
          <a:p>
            <a:pPr algn="just">
              <a:lnSpc>
                <a:spcPts val="2265"/>
              </a:lnSpc>
            </a:pPr>
            <a:r>
              <a:rPr lang="en-US" sz="1416" spc="12">
                <a:solidFill>
                  <a:srgbClr val="000000"/>
                </a:solidFill>
                <a:latin typeface="Open Sans"/>
                <a:ea typeface="Open Sans"/>
                <a:cs typeface="Open Sans"/>
                <a:sym typeface="Open Sans"/>
              </a:rPr>
              <a:t>-responsive (adapté mobile/tablette automatiquement)</a:t>
            </a:r>
          </a:p>
          <a:p>
            <a:pPr algn="just">
              <a:lnSpc>
                <a:spcPts val="2265"/>
              </a:lnSpc>
            </a:pPr>
            <a:r>
              <a:rPr lang="en-US" sz="1416" spc="12">
                <a:solidFill>
                  <a:srgbClr val="000000"/>
                </a:solidFill>
                <a:latin typeface="Open Sans"/>
                <a:ea typeface="Open Sans"/>
                <a:cs typeface="Open Sans"/>
                <a:sym typeface="Open Sans"/>
              </a:rPr>
              <a:t>-adaptable (mode clair/sombre inclus)</a:t>
            </a:r>
          </a:p>
          <a:p>
            <a:pPr algn="just">
              <a:lnSpc>
                <a:spcPts val="2265"/>
              </a:lnSpc>
            </a:pPr>
            <a:endParaRPr lang="en-US" sz="1416" spc="12">
              <a:solidFill>
                <a:srgbClr val="000000"/>
              </a:solidFill>
              <a:latin typeface="Open Sans"/>
              <a:ea typeface="Open Sans"/>
              <a:cs typeface="Open Sans"/>
              <a:sym typeface="Open Sans"/>
            </a:endParaRPr>
          </a:p>
          <a:p>
            <a:pPr algn="just">
              <a:lnSpc>
                <a:spcPts val="2265"/>
              </a:lnSpc>
            </a:pPr>
            <a:r>
              <a:rPr lang="en-US" sz="1416" spc="12">
                <a:solidFill>
                  <a:srgbClr val="000000"/>
                </a:solidFill>
                <a:latin typeface="Open Sans"/>
                <a:ea typeface="Open Sans"/>
                <a:cs typeface="Open Sans"/>
                <a:sym typeface="Open Sans"/>
              </a:rPr>
              <a:t>👉 Pourquoi c’est un avantage ?</a:t>
            </a:r>
          </a:p>
          <a:p>
            <a:pPr algn="just">
              <a:lnSpc>
                <a:spcPts val="2265"/>
              </a:lnSpc>
            </a:pPr>
            <a:r>
              <a:rPr lang="en-US" sz="1416" spc="12">
                <a:solidFill>
                  <a:srgbClr val="000000"/>
                </a:solidFill>
                <a:latin typeface="Open Sans"/>
                <a:ea typeface="Open Sans"/>
                <a:cs typeface="Open Sans"/>
                <a:sym typeface="Open Sans"/>
              </a:rPr>
              <a:t>*Le site reste performant, même en ajoutant plus de contenu.</a:t>
            </a:r>
          </a:p>
          <a:p>
            <a:pPr algn="just">
              <a:lnSpc>
                <a:spcPts val="2265"/>
              </a:lnSpc>
            </a:pPr>
            <a:r>
              <a:rPr lang="en-US" sz="1416" spc="12">
                <a:solidFill>
                  <a:srgbClr val="000000"/>
                </a:solidFill>
                <a:latin typeface="Open Sans"/>
                <a:ea typeface="Open Sans"/>
                <a:cs typeface="Open Sans"/>
                <a:sym typeface="Open Sans"/>
              </a:rPr>
              <a:t>Le design s’adapte naturellement à tous les écrans.</a:t>
            </a:r>
          </a:p>
          <a:p>
            <a:pPr algn="just">
              <a:lnSpc>
                <a:spcPts val="2265"/>
              </a:lnSpc>
            </a:pPr>
            <a:r>
              <a:rPr lang="en-US" sz="1416" spc="12">
                <a:solidFill>
                  <a:srgbClr val="000000"/>
                </a:solidFill>
                <a:latin typeface="Open Sans"/>
                <a:ea typeface="Open Sans"/>
                <a:cs typeface="Open Sans"/>
                <a:sym typeface="Open Sans"/>
              </a:rPr>
              <a:t>Le thème peut évoluer sans réécrire du style.</a:t>
            </a:r>
          </a:p>
          <a:p>
            <a:pPr algn="just">
              <a:lnSpc>
                <a:spcPts val="2265"/>
              </a:lnSpc>
            </a:pPr>
            <a:r>
              <a:rPr lang="en-US" sz="1416" spc="12">
                <a:solidFill>
                  <a:srgbClr val="000000"/>
                </a:solidFill>
                <a:latin typeface="Open Sans"/>
                <a:ea typeface="Open Sans"/>
                <a:cs typeface="Open Sans"/>
                <a:sym typeface="Open Sans"/>
              </a:rPr>
              <a:t>Exemple :</a:t>
            </a:r>
          </a:p>
          <a:p>
            <a:pPr algn="just">
              <a:lnSpc>
                <a:spcPts val="2265"/>
              </a:lnSpc>
            </a:pPr>
            <a:r>
              <a:rPr lang="en-US" sz="1416" spc="13">
                <a:solidFill>
                  <a:srgbClr val="000000"/>
                </a:solidFill>
                <a:latin typeface="Open Sans"/>
                <a:ea typeface="Open Sans"/>
                <a:cs typeface="Open Sans"/>
                <a:sym typeface="Open Sans"/>
              </a:rPr>
              <a:t>Le mode sombre fonctionne automatiquement selon le système de l’utilisateur → aucune configuration à faire.</a:t>
            </a:r>
          </a:p>
        </p:txBody>
      </p:sp>
      <p:sp>
        <p:nvSpPr>
          <p:cNvPr id="17" name="AutoShape 17"/>
          <p:cNvSpPr/>
          <p:nvPr/>
        </p:nvSpPr>
        <p:spPr>
          <a:xfrm>
            <a:off x="13053867" y="1179414"/>
            <a:ext cx="0" cy="4362229"/>
          </a:xfrm>
          <a:prstGeom prst="line">
            <a:avLst/>
          </a:prstGeom>
          <a:ln w="38100" cap="flat">
            <a:solidFill>
              <a:srgbClr val="000000"/>
            </a:solidFill>
            <a:prstDash val="solid"/>
            <a:headEnd type="none" w="sm" len="sm"/>
            <a:tailEnd type="none" w="sm" len="sm"/>
          </a:ln>
        </p:spPr>
      </p:sp>
      <p:sp>
        <p:nvSpPr>
          <p:cNvPr id="18" name="TextBox 18"/>
          <p:cNvSpPr txBox="1"/>
          <p:nvPr/>
        </p:nvSpPr>
        <p:spPr>
          <a:xfrm>
            <a:off x="11430631" y="6016231"/>
            <a:ext cx="2881204" cy="300233"/>
          </a:xfrm>
          <a:prstGeom prst="rect">
            <a:avLst/>
          </a:prstGeom>
        </p:spPr>
        <p:txBody>
          <a:bodyPr lIns="0" tIns="0" rIns="0" bIns="0" rtlCol="0" anchor="t">
            <a:spAutoFit/>
          </a:bodyPr>
          <a:lstStyle/>
          <a:p>
            <a:pPr algn="ctr">
              <a:lnSpc>
                <a:spcPts val="2303"/>
              </a:lnSpc>
            </a:pPr>
            <a:r>
              <a:rPr lang="en-US" sz="1952" b="1" spc="-39">
                <a:solidFill>
                  <a:srgbClr val="010101"/>
                </a:solidFill>
                <a:latin typeface="Cocomat Pro Bold"/>
                <a:ea typeface="Cocomat Pro Bold"/>
                <a:cs typeface="Cocomat Pro Bold"/>
                <a:sym typeface="Cocomat Pro Bold"/>
              </a:rPr>
              <a:t>EXEMPLE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17384867" y="9747348"/>
            <a:ext cx="592659" cy="281200"/>
          </a:xfrm>
          <a:prstGeom prst="rect">
            <a:avLst/>
          </a:prstGeom>
        </p:spPr>
        <p:txBody>
          <a:bodyPr lIns="0" tIns="0" rIns="0" bIns="0" rtlCol="0" anchor="t">
            <a:spAutoFit/>
          </a:bodyPr>
          <a:lstStyle/>
          <a:p>
            <a:pPr algn="r">
              <a:lnSpc>
                <a:spcPts val="2357"/>
              </a:lnSpc>
            </a:pPr>
            <a:r>
              <a:rPr lang="en-US" sz="1309" b="1" spc="12">
                <a:solidFill>
                  <a:srgbClr val="010101"/>
                </a:solidFill>
                <a:latin typeface="Open Sans Bold"/>
                <a:ea typeface="Open Sans Bold"/>
                <a:cs typeface="Open Sans Bold"/>
                <a:sym typeface="Open Sans Bold"/>
              </a:rPr>
              <a:t>8</a:t>
            </a:r>
          </a:p>
        </p:txBody>
      </p:sp>
      <p:sp>
        <p:nvSpPr>
          <p:cNvPr id="3" name="TextBox 3"/>
          <p:cNvSpPr txBox="1"/>
          <p:nvPr/>
        </p:nvSpPr>
        <p:spPr>
          <a:xfrm>
            <a:off x="376210" y="92964"/>
            <a:ext cx="652490" cy="474599"/>
          </a:xfrm>
          <a:prstGeom prst="rect">
            <a:avLst/>
          </a:prstGeom>
        </p:spPr>
        <p:txBody>
          <a:bodyPr lIns="0" tIns="0" rIns="0" bIns="0" rtlCol="0" anchor="t">
            <a:spAutoFit/>
          </a:bodyPr>
          <a:lstStyle/>
          <a:p>
            <a:pPr marL="0" lvl="0" indent="0" algn="l">
              <a:lnSpc>
                <a:spcPts val="3658"/>
              </a:lnSpc>
              <a:spcBef>
                <a:spcPct val="0"/>
              </a:spcBef>
            </a:pPr>
            <a:r>
              <a:rPr lang="en-US" sz="3100" b="1" u="none" strike="noStrike" spc="-62">
                <a:solidFill>
                  <a:srgbClr val="000000"/>
                </a:solidFill>
                <a:latin typeface="Cocomat Pro Bold"/>
                <a:ea typeface="Cocomat Pro Bold"/>
                <a:cs typeface="Cocomat Pro Bold"/>
                <a:sym typeface="Cocomat Pro Bold"/>
              </a:rPr>
              <a:t>6.</a:t>
            </a:r>
          </a:p>
        </p:txBody>
      </p:sp>
      <p:sp>
        <p:nvSpPr>
          <p:cNvPr id="4" name="TextBox 4"/>
          <p:cNvSpPr txBox="1"/>
          <p:nvPr/>
        </p:nvSpPr>
        <p:spPr>
          <a:xfrm>
            <a:off x="1001159" y="96901"/>
            <a:ext cx="6923063" cy="931799"/>
          </a:xfrm>
          <a:prstGeom prst="rect">
            <a:avLst/>
          </a:prstGeom>
        </p:spPr>
        <p:txBody>
          <a:bodyPr lIns="0" tIns="0" rIns="0" bIns="0" rtlCol="0" anchor="t">
            <a:spAutoFit/>
          </a:bodyPr>
          <a:lstStyle/>
          <a:p>
            <a:pPr marL="0" lvl="0" indent="0" algn="l">
              <a:lnSpc>
                <a:spcPts val="3658"/>
              </a:lnSpc>
              <a:spcBef>
                <a:spcPct val="0"/>
              </a:spcBef>
            </a:pPr>
            <a:r>
              <a:rPr lang="en-US" sz="3100" b="1" spc="-62">
                <a:solidFill>
                  <a:srgbClr val="000000"/>
                </a:solidFill>
                <a:latin typeface="Cocomat Pro Bold"/>
                <a:ea typeface="Cocomat Pro Bold"/>
                <a:cs typeface="Cocomat Pro Bold"/>
                <a:sym typeface="Cocomat Pro Bold"/>
              </a:rPr>
              <a:t>COMPARAISON AVEC BOOTSTRAP ET TAILWIND CSS:</a:t>
            </a:r>
          </a:p>
        </p:txBody>
      </p:sp>
      <p:sp>
        <p:nvSpPr>
          <p:cNvPr id="5" name="AutoShape 5"/>
          <p:cNvSpPr/>
          <p:nvPr/>
        </p:nvSpPr>
        <p:spPr>
          <a:xfrm>
            <a:off x="376210" y="1047750"/>
            <a:ext cx="7577591" cy="0"/>
          </a:xfrm>
          <a:prstGeom prst="line">
            <a:avLst/>
          </a:prstGeom>
          <a:ln w="38100" cap="flat">
            <a:solidFill>
              <a:srgbClr val="000000"/>
            </a:solidFill>
            <a:prstDash val="solid"/>
            <a:headEnd type="none" w="sm" len="sm"/>
            <a:tailEnd type="none" w="sm" len="sm"/>
          </a:ln>
        </p:spPr>
      </p:sp>
      <p:sp>
        <p:nvSpPr>
          <p:cNvPr id="6" name="TextBox 6"/>
          <p:cNvSpPr txBox="1"/>
          <p:nvPr/>
        </p:nvSpPr>
        <p:spPr>
          <a:xfrm>
            <a:off x="1028700" y="1476792"/>
            <a:ext cx="6734707" cy="3593866"/>
          </a:xfrm>
          <a:prstGeom prst="rect">
            <a:avLst/>
          </a:prstGeom>
        </p:spPr>
        <p:txBody>
          <a:bodyPr lIns="0" tIns="0" rIns="0" bIns="0" rtlCol="0" anchor="t">
            <a:spAutoFit/>
          </a:bodyPr>
          <a:lstStyle/>
          <a:p>
            <a:pPr algn="just">
              <a:lnSpc>
                <a:spcPts val="2907"/>
              </a:lnSpc>
            </a:pPr>
            <a:r>
              <a:rPr lang="en-US" sz="1817" b="1" u="sng" spc="16">
                <a:solidFill>
                  <a:srgbClr val="FF3131"/>
                </a:solidFill>
                <a:latin typeface="Open Sans Bold"/>
                <a:ea typeface="Open Sans Bold"/>
                <a:cs typeface="Open Sans Bold"/>
                <a:sym typeface="Open Sans Bold"/>
              </a:rPr>
              <a:t>1. Type de framework</a:t>
            </a:r>
          </a:p>
          <a:p>
            <a:pPr algn="just">
              <a:lnSpc>
                <a:spcPts val="2907"/>
              </a:lnSpc>
            </a:pPr>
            <a:r>
              <a:rPr lang="en-US" sz="1817" b="1" u="sng" spc="16">
                <a:solidFill>
                  <a:srgbClr val="000000"/>
                </a:solidFill>
                <a:latin typeface="Open Sans Bold"/>
                <a:ea typeface="Open Sans Bold"/>
                <a:cs typeface="Open Sans Bold"/>
                <a:sym typeface="Open Sans Bold"/>
              </a:rPr>
              <a:t>*</a:t>
            </a:r>
            <a:r>
              <a:rPr lang="en-US" sz="1817" spc="16">
                <a:solidFill>
                  <a:srgbClr val="000000"/>
                </a:solidFill>
                <a:latin typeface="Open Sans"/>
                <a:ea typeface="Open Sans"/>
                <a:cs typeface="Open Sans"/>
                <a:sym typeface="Open Sans"/>
              </a:rPr>
              <a:t>Pico.css : minimaliste, « plug-and-play », pas de classes compliquées à retenir, juste du CSS prêt à l’emploi.</a:t>
            </a:r>
          </a:p>
          <a:p>
            <a:pPr algn="just">
              <a:lnSpc>
                <a:spcPts val="2907"/>
              </a:lnSpc>
            </a:pPr>
            <a:endParaRPr lang="en-US" sz="1817" spc="16">
              <a:solidFill>
                <a:srgbClr val="000000"/>
              </a:solidFill>
              <a:latin typeface="Open Sans"/>
              <a:ea typeface="Open Sans"/>
              <a:cs typeface="Open Sans"/>
              <a:sym typeface="Open Sans"/>
            </a:endParaRPr>
          </a:p>
          <a:p>
            <a:pPr algn="just">
              <a:lnSpc>
                <a:spcPts val="2907"/>
              </a:lnSpc>
            </a:pPr>
            <a:r>
              <a:rPr lang="en-US" sz="1817" spc="16">
                <a:solidFill>
                  <a:srgbClr val="000000"/>
                </a:solidFill>
                <a:latin typeface="Open Sans"/>
                <a:ea typeface="Open Sans"/>
                <a:cs typeface="Open Sans"/>
                <a:sym typeface="Open Sans"/>
              </a:rPr>
              <a:t>*Bootstrap : complet, orienté composants et responsive, inclut CSS + JS.</a:t>
            </a:r>
          </a:p>
          <a:p>
            <a:pPr algn="just">
              <a:lnSpc>
                <a:spcPts val="2907"/>
              </a:lnSpc>
            </a:pPr>
            <a:endParaRPr lang="en-US" sz="1817" spc="16">
              <a:solidFill>
                <a:srgbClr val="000000"/>
              </a:solidFill>
              <a:latin typeface="Open Sans"/>
              <a:ea typeface="Open Sans"/>
              <a:cs typeface="Open Sans"/>
              <a:sym typeface="Open Sans"/>
            </a:endParaRPr>
          </a:p>
          <a:p>
            <a:pPr algn="just">
              <a:lnSpc>
                <a:spcPts val="2907"/>
              </a:lnSpc>
            </a:pPr>
            <a:r>
              <a:rPr lang="en-US" sz="1817" spc="16">
                <a:solidFill>
                  <a:srgbClr val="000000"/>
                </a:solidFill>
                <a:latin typeface="Open Sans"/>
                <a:ea typeface="Open Sans"/>
                <a:cs typeface="Open Sans"/>
                <a:sym typeface="Open Sans"/>
              </a:rPr>
              <a:t>*Tailwind CSS : utility-first, tout se construit via des classes utilitaires, pas de styles par défaut.</a:t>
            </a:r>
          </a:p>
          <a:p>
            <a:pPr algn="just">
              <a:lnSpc>
                <a:spcPts val="2907"/>
              </a:lnSpc>
            </a:pPr>
            <a:endParaRPr lang="en-US" sz="1817" spc="16">
              <a:solidFill>
                <a:srgbClr val="000000"/>
              </a:solidFill>
              <a:latin typeface="Open Sans"/>
              <a:ea typeface="Open Sans"/>
              <a:cs typeface="Open Sans"/>
              <a:sym typeface="Open Sans"/>
            </a:endParaRPr>
          </a:p>
        </p:txBody>
      </p:sp>
      <p:sp>
        <p:nvSpPr>
          <p:cNvPr id="7" name="TextBox 7"/>
          <p:cNvSpPr txBox="1"/>
          <p:nvPr/>
        </p:nvSpPr>
        <p:spPr>
          <a:xfrm>
            <a:off x="9979049" y="1476792"/>
            <a:ext cx="6894180" cy="3315456"/>
          </a:xfrm>
          <a:prstGeom prst="rect">
            <a:avLst/>
          </a:prstGeom>
        </p:spPr>
        <p:txBody>
          <a:bodyPr lIns="0" tIns="0" rIns="0" bIns="0" rtlCol="0" anchor="t">
            <a:spAutoFit/>
          </a:bodyPr>
          <a:lstStyle/>
          <a:p>
            <a:pPr algn="just">
              <a:lnSpc>
                <a:spcPts val="2976"/>
              </a:lnSpc>
            </a:pPr>
            <a:r>
              <a:rPr lang="en-US" sz="1860" b="1" u="sng" spc="16">
                <a:solidFill>
                  <a:srgbClr val="FF3131"/>
                </a:solidFill>
                <a:latin typeface="Open Sans Bold"/>
                <a:ea typeface="Open Sans Bold"/>
                <a:cs typeface="Open Sans Bold"/>
                <a:sym typeface="Open Sans Bold"/>
              </a:rPr>
              <a:t>2. Philosophie / approche</a:t>
            </a:r>
          </a:p>
          <a:p>
            <a:pPr algn="just">
              <a:lnSpc>
                <a:spcPts val="2976"/>
              </a:lnSpc>
            </a:pPr>
            <a:r>
              <a:rPr lang="en-US" sz="1860" b="1" u="sng" spc="16">
                <a:solidFill>
                  <a:srgbClr val="000000"/>
                </a:solidFill>
                <a:latin typeface="Open Sans Bold"/>
                <a:ea typeface="Open Sans Bold"/>
                <a:cs typeface="Open Sans Bold"/>
                <a:sym typeface="Open Sans Bold"/>
              </a:rPr>
              <a:t>*</a:t>
            </a:r>
            <a:r>
              <a:rPr lang="en-US" sz="1860" spc="16">
                <a:solidFill>
                  <a:srgbClr val="000000"/>
                </a:solidFill>
                <a:latin typeface="Open Sans"/>
                <a:ea typeface="Open Sans"/>
                <a:cs typeface="Open Sans"/>
                <a:sym typeface="Open Sans"/>
              </a:rPr>
              <a:t>Pico : « moins c’est plus » → design épuré sans surcharge de classes.</a:t>
            </a:r>
          </a:p>
          <a:p>
            <a:pPr algn="just">
              <a:lnSpc>
                <a:spcPts val="2976"/>
              </a:lnSpc>
            </a:pPr>
            <a:endParaRPr lang="en-US" sz="1860" spc="16">
              <a:solidFill>
                <a:srgbClr val="000000"/>
              </a:solidFill>
              <a:latin typeface="Open Sans"/>
              <a:ea typeface="Open Sans"/>
              <a:cs typeface="Open Sans"/>
              <a:sym typeface="Open Sans"/>
            </a:endParaRPr>
          </a:p>
          <a:p>
            <a:pPr algn="just">
              <a:lnSpc>
                <a:spcPts val="2976"/>
              </a:lnSpc>
            </a:pPr>
            <a:r>
              <a:rPr lang="en-US" sz="1860" spc="16">
                <a:solidFill>
                  <a:srgbClr val="000000"/>
                </a:solidFill>
                <a:latin typeface="Open Sans"/>
                <a:ea typeface="Open Sans"/>
                <a:cs typeface="Open Sans"/>
                <a:sym typeface="Open Sans"/>
              </a:rPr>
              <a:t>*Bootstrap : design standardisé, beaucoup de composants prêts à l’emploi.</a:t>
            </a:r>
          </a:p>
          <a:p>
            <a:pPr algn="just">
              <a:lnSpc>
                <a:spcPts val="2976"/>
              </a:lnSpc>
            </a:pPr>
            <a:endParaRPr lang="en-US" sz="1860" spc="16">
              <a:solidFill>
                <a:srgbClr val="000000"/>
              </a:solidFill>
              <a:latin typeface="Open Sans"/>
              <a:ea typeface="Open Sans"/>
              <a:cs typeface="Open Sans"/>
              <a:sym typeface="Open Sans"/>
            </a:endParaRPr>
          </a:p>
          <a:p>
            <a:pPr algn="just">
              <a:lnSpc>
                <a:spcPts val="2976"/>
              </a:lnSpc>
            </a:pPr>
            <a:r>
              <a:rPr lang="en-US" sz="1860" spc="17">
                <a:solidFill>
                  <a:srgbClr val="000000"/>
                </a:solidFill>
                <a:latin typeface="Open Sans"/>
                <a:ea typeface="Open Sans"/>
                <a:cs typeface="Open Sans"/>
                <a:sym typeface="Open Sans"/>
              </a:rPr>
              <a:t>*Tailwind : tout est personnalisable → liberté totale mais plus de code HTML.</a:t>
            </a:r>
          </a:p>
        </p:txBody>
      </p:sp>
      <p:sp>
        <p:nvSpPr>
          <p:cNvPr id="8" name="TextBox 8"/>
          <p:cNvSpPr txBox="1"/>
          <p:nvPr/>
        </p:nvSpPr>
        <p:spPr>
          <a:xfrm>
            <a:off x="1028700" y="5362992"/>
            <a:ext cx="6895522" cy="3315437"/>
          </a:xfrm>
          <a:prstGeom prst="rect">
            <a:avLst/>
          </a:prstGeom>
        </p:spPr>
        <p:txBody>
          <a:bodyPr lIns="0" tIns="0" rIns="0" bIns="0" rtlCol="0" anchor="t">
            <a:spAutoFit/>
          </a:bodyPr>
          <a:lstStyle/>
          <a:p>
            <a:pPr algn="just">
              <a:lnSpc>
                <a:spcPts val="2976"/>
              </a:lnSpc>
            </a:pPr>
            <a:r>
              <a:rPr lang="en-US" sz="1860" b="1" u="sng" spc="16">
                <a:solidFill>
                  <a:srgbClr val="FF3131"/>
                </a:solidFill>
                <a:latin typeface="Open Sans Bold"/>
                <a:ea typeface="Open Sans Bold"/>
                <a:cs typeface="Open Sans Bold"/>
                <a:sym typeface="Open Sans Bold"/>
              </a:rPr>
              <a:t>3. Personnalisation</a:t>
            </a:r>
          </a:p>
          <a:p>
            <a:pPr algn="just">
              <a:lnSpc>
                <a:spcPts val="2976"/>
              </a:lnSpc>
            </a:pPr>
            <a:r>
              <a:rPr lang="en-US" sz="1860" b="1" u="sng" spc="16">
                <a:solidFill>
                  <a:srgbClr val="000000"/>
                </a:solidFill>
                <a:latin typeface="Open Sans Bold"/>
                <a:ea typeface="Open Sans Bold"/>
                <a:cs typeface="Open Sans Bold"/>
                <a:sym typeface="Open Sans Bold"/>
              </a:rPr>
              <a:t>*</a:t>
            </a:r>
            <a:r>
              <a:rPr lang="en-US" sz="1860" spc="16">
                <a:solidFill>
                  <a:srgbClr val="000000"/>
                </a:solidFill>
                <a:latin typeface="Open Sans"/>
                <a:ea typeface="Open Sans"/>
                <a:cs typeface="Open Sans"/>
                <a:sym typeface="Open Sans"/>
              </a:rPr>
              <a:t>Pico : variables CSS → facile à changer couleurs, typographie, espacements.</a:t>
            </a:r>
          </a:p>
          <a:p>
            <a:pPr algn="just">
              <a:lnSpc>
                <a:spcPts val="2976"/>
              </a:lnSpc>
            </a:pPr>
            <a:endParaRPr lang="en-US" sz="1860" spc="16">
              <a:solidFill>
                <a:srgbClr val="000000"/>
              </a:solidFill>
              <a:latin typeface="Open Sans"/>
              <a:ea typeface="Open Sans"/>
              <a:cs typeface="Open Sans"/>
              <a:sym typeface="Open Sans"/>
            </a:endParaRPr>
          </a:p>
          <a:p>
            <a:pPr algn="just">
              <a:lnSpc>
                <a:spcPts val="2976"/>
              </a:lnSpc>
            </a:pPr>
            <a:r>
              <a:rPr lang="en-US" sz="1860" spc="16">
                <a:solidFill>
                  <a:srgbClr val="000000"/>
                </a:solidFill>
                <a:latin typeface="Open Sans"/>
                <a:ea typeface="Open Sans"/>
                <a:cs typeface="Open Sans"/>
                <a:sym typeface="Open Sans"/>
              </a:rPr>
              <a:t>*Bootstrap : thèmes SCSS, mais plus rigide pour un design totalement original.</a:t>
            </a:r>
          </a:p>
          <a:p>
            <a:pPr algn="just">
              <a:lnSpc>
                <a:spcPts val="2976"/>
              </a:lnSpc>
            </a:pPr>
            <a:endParaRPr lang="en-US" sz="1860" spc="16">
              <a:solidFill>
                <a:srgbClr val="000000"/>
              </a:solidFill>
              <a:latin typeface="Open Sans"/>
              <a:ea typeface="Open Sans"/>
              <a:cs typeface="Open Sans"/>
              <a:sym typeface="Open Sans"/>
            </a:endParaRPr>
          </a:p>
          <a:p>
            <a:pPr algn="just">
              <a:lnSpc>
                <a:spcPts val="2976"/>
              </a:lnSpc>
            </a:pPr>
            <a:r>
              <a:rPr lang="en-US" sz="1860" spc="17">
                <a:solidFill>
                  <a:srgbClr val="000000"/>
                </a:solidFill>
                <a:latin typeface="Open Sans"/>
                <a:ea typeface="Open Sans"/>
                <a:cs typeface="Open Sans"/>
                <a:sym typeface="Open Sans"/>
              </a:rPr>
              <a:t>*Tailwind : personnalisation complète via classes et configuration, mais nécessite plus de connaissances.</a:t>
            </a:r>
          </a:p>
        </p:txBody>
      </p:sp>
      <p:sp>
        <p:nvSpPr>
          <p:cNvPr id="9" name="TextBox 9"/>
          <p:cNvSpPr txBox="1"/>
          <p:nvPr/>
        </p:nvSpPr>
        <p:spPr>
          <a:xfrm>
            <a:off x="9977707" y="5362992"/>
            <a:ext cx="6895522" cy="2201012"/>
          </a:xfrm>
          <a:prstGeom prst="rect">
            <a:avLst/>
          </a:prstGeom>
        </p:spPr>
        <p:txBody>
          <a:bodyPr lIns="0" tIns="0" rIns="0" bIns="0" rtlCol="0" anchor="t">
            <a:spAutoFit/>
          </a:bodyPr>
          <a:lstStyle/>
          <a:p>
            <a:pPr algn="just">
              <a:lnSpc>
                <a:spcPts val="2976"/>
              </a:lnSpc>
            </a:pPr>
            <a:r>
              <a:rPr lang="en-US" sz="1860" b="1" u="sng" spc="16">
                <a:solidFill>
                  <a:srgbClr val="FF3131"/>
                </a:solidFill>
                <a:latin typeface="Open Sans Bold"/>
                <a:ea typeface="Open Sans Bold"/>
                <a:cs typeface="Open Sans Bold"/>
                <a:sym typeface="Open Sans Bold"/>
              </a:rPr>
              <a:t>4. Taille et performance</a:t>
            </a:r>
          </a:p>
          <a:p>
            <a:pPr algn="just">
              <a:lnSpc>
                <a:spcPts val="2976"/>
              </a:lnSpc>
            </a:pPr>
            <a:r>
              <a:rPr lang="en-US" sz="1860" b="1" u="sng" spc="16">
                <a:solidFill>
                  <a:srgbClr val="000000"/>
                </a:solidFill>
                <a:latin typeface="Open Sans Bold"/>
                <a:ea typeface="Open Sans Bold"/>
                <a:cs typeface="Open Sans Bold"/>
                <a:sym typeface="Open Sans Bold"/>
              </a:rPr>
              <a:t>*</a:t>
            </a:r>
            <a:r>
              <a:rPr lang="en-US" sz="1860" spc="16">
                <a:solidFill>
                  <a:srgbClr val="000000"/>
                </a:solidFill>
                <a:latin typeface="Open Sans"/>
                <a:ea typeface="Open Sans"/>
                <a:cs typeface="Open Sans"/>
                <a:sym typeface="Open Sans"/>
              </a:rPr>
              <a:t>Pico : très léger (~3 KB minifié).</a:t>
            </a:r>
          </a:p>
          <a:p>
            <a:pPr algn="just">
              <a:lnSpc>
                <a:spcPts val="2976"/>
              </a:lnSpc>
            </a:pPr>
            <a:endParaRPr lang="en-US" sz="1860" spc="16">
              <a:solidFill>
                <a:srgbClr val="000000"/>
              </a:solidFill>
              <a:latin typeface="Open Sans"/>
              <a:ea typeface="Open Sans"/>
              <a:cs typeface="Open Sans"/>
              <a:sym typeface="Open Sans"/>
            </a:endParaRPr>
          </a:p>
          <a:p>
            <a:pPr algn="just">
              <a:lnSpc>
                <a:spcPts val="2976"/>
              </a:lnSpc>
            </a:pPr>
            <a:r>
              <a:rPr lang="en-US" sz="1860" spc="16">
                <a:solidFill>
                  <a:srgbClr val="000000"/>
                </a:solidFill>
                <a:latin typeface="Open Sans"/>
                <a:ea typeface="Open Sans"/>
                <a:cs typeface="Open Sans"/>
                <a:sym typeface="Open Sans"/>
              </a:rPr>
              <a:t>*Bootstrap : lourd (~150 KB CSS + JS).</a:t>
            </a:r>
          </a:p>
          <a:p>
            <a:pPr algn="just">
              <a:lnSpc>
                <a:spcPts val="2976"/>
              </a:lnSpc>
            </a:pPr>
            <a:endParaRPr lang="en-US" sz="1860" spc="16">
              <a:solidFill>
                <a:srgbClr val="000000"/>
              </a:solidFill>
              <a:latin typeface="Open Sans"/>
              <a:ea typeface="Open Sans"/>
              <a:cs typeface="Open Sans"/>
              <a:sym typeface="Open Sans"/>
            </a:endParaRPr>
          </a:p>
          <a:p>
            <a:pPr algn="just">
              <a:lnSpc>
                <a:spcPts val="2976"/>
              </a:lnSpc>
            </a:pPr>
            <a:r>
              <a:rPr lang="en-US" sz="1860" spc="17">
                <a:solidFill>
                  <a:srgbClr val="000000"/>
                </a:solidFill>
                <a:latin typeface="Open Sans"/>
                <a:ea typeface="Open Sans"/>
                <a:cs typeface="Open Sans"/>
                <a:sym typeface="Open Sans"/>
              </a:rPr>
              <a:t>*Tailwind : optimisable via purge → taille variable.</a:t>
            </a:r>
          </a:p>
        </p:txBody>
      </p:sp>
      <p:sp>
        <p:nvSpPr>
          <p:cNvPr id="10" name="AutoShape 10"/>
          <p:cNvSpPr/>
          <p:nvPr/>
        </p:nvSpPr>
        <p:spPr>
          <a:xfrm>
            <a:off x="8686222" y="1543467"/>
            <a:ext cx="0" cy="7714833"/>
          </a:xfrm>
          <a:prstGeom prst="line">
            <a:avLst/>
          </a:prstGeom>
          <a:ln w="38100" cap="flat">
            <a:solidFill>
              <a:srgbClr val="000000"/>
            </a:solidFill>
            <a:prstDash val="solid"/>
            <a:headEnd type="none" w="sm" len="sm"/>
            <a:tailEnd type="none" w="sm" len="sm"/>
          </a:ln>
        </p:spPr>
      </p:sp>
      <p:sp>
        <p:nvSpPr>
          <p:cNvPr id="11" name="AutoShape 11"/>
          <p:cNvSpPr/>
          <p:nvPr/>
        </p:nvSpPr>
        <p:spPr>
          <a:xfrm>
            <a:off x="1028700" y="5070658"/>
            <a:ext cx="16011773"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AutoShape 2"/>
          <p:cNvSpPr/>
          <p:nvPr/>
        </p:nvSpPr>
        <p:spPr>
          <a:xfrm>
            <a:off x="702455" y="1009650"/>
            <a:ext cx="5668836" cy="0"/>
          </a:xfrm>
          <a:prstGeom prst="line">
            <a:avLst/>
          </a:prstGeom>
          <a:ln w="38100" cap="flat">
            <a:solidFill>
              <a:srgbClr val="000000"/>
            </a:solidFill>
            <a:prstDash val="solid"/>
            <a:headEnd type="none" w="sm" len="sm"/>
            <a:tailEnd type="none" w="sm" len="sm"/>
          </a:ln>
        </p:spPr>
      </p:sp>
      <p:grpSp>
        <p:nvGrpSpPr>
          <p:cNvPr id="3" name="Group 3"/>
          <p:cNvGrpSpPr/>
          <p:nvPr/>
        </p:nvGrpSpPr>
        <p:grpSpPr>
          <a:xfrm>
            <a:off x="15503553" y="1276350"/>
            <a:ext cx="2473973" cy="247397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DCD7"/>
            </a:solidFill>
          </p:spPr>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2006"/>
                </a:lnSpc>
              </a:pPr>
              <a:endParaRPr/>
            </a:p>
          </p:txBody>
        </p:sp>
      </p:grpSp>
      <p:grpSp>
        <p:nvGrpSpPr>
          <p:cNvPr id="6" name="Group 6"/>
          <p:cNvGrpSpPr/>
          <p:nvPr/>
        </p:nvGrpSpPr>
        <p:grpSpPr>
          <a:xfrm>
            <a:off x="14785327" y="0"/>
            <a:ext cx="2473973" cy="247397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D67F"/>
            </a:solidFill>
          </p:spPr>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2006"/>
                </a:lnSpc>
              </a:pPr>
              <a:endParaRPr/>
            </a:p>
          </p:txBody>
        </p:sp>
      </p:grpSp>
      <p:grpSp>
        <p:nvGrpSpPr>
          <p:cNvPr id="9" name="Group 9"/>
          <p:cNvGrpSpPr/>
          <p:nvPr/>
        </p:nvGrpSpPr>
        <p:grpSpPr>
          <a:xfrm>
            <a:off x="13858078" y="1236987"/>
            <a:ext cx="2473973" cy="247397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9BCC1"/>
            </a:solidFill>
          </p:spPr>
        </p:sp>
        <p:sp>
          <p:nvSpPr>
            <p:cNvPr id="11" name="TextBox 11"/>
            <p:cNvSpPr txBox="1"/>
            <p:nvPr/>
          </p:nvSpPr>
          <p:spPr>
            <a:xfrm>
              <a:off x="76200" y="66675"/>
              <a:ext cx="660400" cy="669925"/>
            </a:xfrm>
            <a:prstGeom prst="rect">
              <a:avLst/>
            </a:prstGeom>
          </p:spPr>
          <p:txBody>
            <a:bodyPr lIns="50800" tIns="50800" rIns="50800" bIns="50800" rtlCol="0" anchor="ctr"/>
            <a:lstStyle/>
            <a:p>
              <a:pPr algn="ctr">
                <a:lnSpc>
                  <a:spcPts val="2006"/>
                </a:lnSpc>
              </a:pPr>
              <a:endParaRPr/>
            </a:p>
          </p:txBody>
        </p:sp>
      </p:grpSp>
      <p:sp>
        <p:nvSpPr>
          <p:cNvPr id="12" name="TextBox 12"/>
          <p:cNvSpPr txBox="1"/>
          <p:nvPr/>
        </p:nvSpPr>
        <p:spPr>
          <a:xfrm>
            <a:off x="1190622" y="344551"/>
            <a:ext cx="4857091" cy="474599"/>
          </a:xfrm>
          <a:prstGeom prst="rect">
            <a:avLst/>
          </a:prstGeom>
        </p:spPr>
        <p:txBody>
          <a:bodyPr lIns="0" tIns="0" rIns="0" bIns="0" rtlCol="0" anchor="t">
            <a:spAutoFit/>
          </a:bodyPr>
          <a:lstStyle/>
          <a:p>
            <a:pPr marL="0" lvl="0" indent="0" algn="l">
              <a:lnSpc>
                <a:spcPts val="3658"/>
              </a:lnSpc>
              <a:spcBef>
                <a:spcPct val="0"/>
              </a:spcBef>
            </a:pPr>
            <a:r>
              <a:rPr lang="en-US" sz="3100" b="1" spc="-62">
                <a:solidFill>
                  <a:srgbClr val="000000"/>
                </a:solidFill>
                <a:latin typeface="Cocomat Pro Bold"/>
                <a:ea typeface="Cocomat Pro Bold"/>
                <a:cs typeface="Cocomat Pro Bold"/>
                <a:sym typeface="Cocomat Pro Bold"/>
              </a:rPr>
              <a:t>CAS D’UTILISATION</a:t>
            </a:r>
          </a:p>
        </p:txBody>
      </p:sp>
      <p:sp>
        <p:nvSpPr>
          <p:cNvPr id="13" name="TextBox 13"/>
          <p:cNvSpPr txBox="1"/>
          <p:nvPr/>
        </p:nvSpPr>
        <p:spPr>
          <a:xfrm>
            <a:off x="702455" y="1190625"/>
            <a:ext cx="12394839" cy="7391861"/>
          </a:xfrm>
          <a:prstGeom prst="rect">
            <a:avLst/>
          </a:prstGeom>
        </p:spPr>
        <p:txBody>
          <a:bodyPr lIns="0" tIns="0" rIns="0" bIns="0" rtlCol="0" anchor="t">
            <a:spAutoFit/>
          </a:bodyPr>
          <a:lstStyle/>
          <a:p>
            <a:pPr algn="just">
              <a:lnSpc>
                <a:spcPts val="3515"/>
              </a:lnSpc>
            </a:pPr>
            <a:r>
              <a:rPr lang="en-US" sz="2197" u="sng" spc="19">
                <a:solidFill>
                  <a:srgbClr val="FF3131"/>
                </a:solidFill>
                <a:latin typeface="Open Sans"/>
                <a:ea typeface="Open Sans"/>
                <a:cs typeface="Open Sans"/>
                <a:sym typeface="Open Sans"/>
              </a:rPr>
              <a:t>✔ Sites simples et élégants :</a:t>
            </a:r>
          </a:p>
          <a:p>
            <a:pPr algn="just">
              <a:lnSpc>
                <a:spcPts val="3515"/>
              </a:lnSpc>
            </a:pPr>
            <a:r>
              <a:rPr lang="en-US" sz="2197" spc="19">
                <a:solidFill>
                  <a:srgbClr val="000000"/>
                </a:solidFill>
                <a:latin typeface="Open Sans"/>
                <a:ea typeface="Open Sans"/>
                <a:cs typeface="Open Sans"/>
                <a:sym typeface="Open Sans"/>
              </a:rPr>
              <a:t>Pour créer rapidement des pages propres sans écrire beaucoup de CSS.</a:t>
            </a:r>
          </a:p>
          <a:p>
            <a:pPr algn="just">
              <a:lnSpc>
                <a:spcPts val="3515"/>
              </a:lnSpc>
            </a:pPr>
            <a:endParaRPr lang="en-US" sz="2197" spc="19">
              <a:solidFill>
                <a:srgbClr val="000000"/>
              </a:solidFill>
              <a:latin typeface="Open Sans"/>
              <a:ea typeface="Open Sans"/>
              <a:cs typeface="Open Sans"/>
              <a:sym typeface="Open Sans"/>
            </a:endParaRPr>
          </a:p>
          <a:p>
            <a:pPr algn="just">
              <a:lnSpc>
                <a:spcPts val="3515"/>
              </a:lnSpc>
            </a:pPr>
            <a:r>
              <a:rPr lang="en-US" sz="2197" u="sng" spc="19">
                <a:solidFill>
                  <a:srgbClr val="FF3131"/>
                </a:solidFill>
                <a:latin typeface="Open Sans"/>
                <a:ea typeface="Open Sans"/>
                <a:cs typeface="Open Sans"/>
                <a:sym typeface="Open Sans"/>
              </a:rPr>
              <a:t>✔ Prototypes et maquettes rapides ::</a:t>
            </a:r>
          </a:p>
          <a:p>
            <a:pPr algn="just">
              <a:lnSpc>
                <a:spcPts val="3515"/>
              </a:lnSpc>
            </a:pPr>
            <a:r>
              <a:rPr lang="en-US" sz="2197" spc="19">
                <a:solidFill>
                  <a:srgbClr val="000000"/>
                </a:solidFill>
                <a:latin typeface="Open Sans"/>
                <a:ea typeface="Open Sans"/>
                <a:cs typeface="Open Sans"/>
                <a:sym typeface="Open Sans"/>
              </a:rPr>
              <a:t>Idéal pour tester une idée ou présenter un concept rapidement.</a:t>
            </a:r>
          </a:p>
          <a:p>
            <a:pPr algn="just">
              <a:lnSpc>
                <a:spcPts val="3515"/>
              </a:lnSpc>
            </a:pPr>
            <a:endParaRPr lang="en-US" sz="2197" spc="19">
              <a:solidFill>
                <a:srgbClr val="000000"/>
              </a:solidFill>
              <a:latin typeface="Open Sans"/>
              <a:ea typeface="Open Sans"/>
              <a:cs typeface="Open Sans"/>
              <a:sym typeface="Open Sans"/>
            </a:endParaRPr>
          </a:p>
          <a:p>
            <a:pPr algn="just">
              <a:lnSpc>
                <a:spcPts val="3515"/>
              </a:lnSpc>
            </a:pPr>
            <a:r>
              <a:rPr lang="en-US" sz="2197" u="sng" spc="19">
                <a:solidFill>
                  <a:srgbClr val="FF3131"/>
                </a:solidFill>
                <a:latin typeface="Open Sans"/>
                <a:ea typeface="Open Sans"/>
                <a:cs typeface="Open Sans"/>
                <a:sym typeface="Open Sans"/>
              </a:rPr>
              <a:t>✔ Blogs, portfolios et documentation :</a:t>
            </a:r>
          </a:p>
          <a:p>
            <a:pPr algn="just">
              <a:lnSpc>
                <a:spcPts val="3515"/>
              </a:lnSpc>
            </a:pPr>
            <a:r>
              <a:rPr lang="en-US" sz="2197" spc="19">
                <a:solidFill>
                  <a:srgbClr val="000000"/>
                </a:solidFill>
                <a:latin typeface="Open Sans"/>
                <a:ea typeface="Open Sans"/>
                <a:cs typeface="Open Sans"/>
                <a:sym typeface="Open Sans"/>
              </a:rPr>
              <a:t>Pico.css offre une excellente lisibilité et un design épuré.</a:t>
            </a:r>
          </a:p>
          <a:p>
            <a:pPr algn="just">
              <a:lnSpc>
                <a:spcPts val="3515"/>
              </a:lnSpc>
            </a:pPr>
            <a:endParaRPr lang="en-US" sz="2197" spc="19">
              <a:solidFill>
                <a:srgbClr val="000000"/>
              </a:solidFill>
              <a:latin typeface="Open Sans"/>
              <a:ea typeface="Open Sans"/>
              <a:cs typeface="Open Sans"/>
              <a:sym typeface="Open Sans"/>
            </a:endParaRPr>
          </a:p>
          <a:p>
            <a:pPr algn="just">
              <a:lnSpc>
                <a:spcPts val="3515"/>
              </a:lnSpc>
            </a:pPr>
            <a:r>
              <a:rPr lang="en-US" sz="2197" u="sng" spc="19">
                <a:solidFill>
                  <a:srgbClr val="FF3131"/>
                </a:solidFill>
                <a:latin typeface="Open Sans"/>
                <a:ea typeface="Open Sans"/>
                <a:cs typeface="Open Sans"/>
                <a:sym typeface="Open Sans"/>
              </a:rPr>
              <a:t>✔ Formulaires stylés automatiquement :</a:t>
            </a:r>
          </a:p>
          <a:p>
            <a:pPr algn="just">
              <a:lnSpc>
                <a:spcPts val="3515"/>
              </a:lnSpc>
            </a:pPr>
            <a:r>
              <a:rPr lang="en-US" sz="2197" spc="19">
                <a:solidFill>
                  <a:srgbClr val="000000"/>
                </a:solidFill>
                <a:latin typeface="Open Sans"/>
                <a:ea typeface="Open Sans"/>
                <a:cs typeface="Open Sans"/>
                <a:sym typeface="Open Sans"/>
              </a:rPr>
              <a:t>Les inputs, labels et boutons sont déjà beaux sans effort.</a:t>
            </a:r>
          </a:p>
          <a:p>
            <a:pPr algn="just">
              <a:lnSpc>
                <a:spcPts val="3515"/>
              </a:lnSpc>
            </a:pPr>
            <a:endParaRPr lang="en-US" sz="2197" spc="19">
              <a:solidFill>
                <a:srgbClr val="000000"/>
              </a:solidFill>
              <a:latin typeface="Open Sans"/>
              <a:ea typeface="Open Sans"/>
              <a:cs typeface="Open Sans"/>
              <a:sym typeface="Open Sans"/>
            </a:endParaRPr>
          </a:p>
          <a:p>
            <a:pPr algn="just">
              <a:lnSpc>
                <a:spcPts val="3515"/>
              </a:lnSpc>
            </a:pPr>
            <a:r>
              <a:rPr lang="en-US" sz="2197" u="sng" spc="19">
                <a:solidFill>
                  <a:srgbClr val="E44037"/>
                </a:solidFill>
                <a:latin typeface="Open Sans"/>
                <a:ea typeface="Open Sans"/>
                <a:cs typeface="Open Sans"/>
                <a:sym typeface="Open Sans"/>
              </a:rPr>
              <a:t>✔ Sites statiques et petits projets web :</a:t>
            </a:r>
          </a:p>
          <a:p>
            <a:pPr algn="just">
              <a:lnSpc>
                <a:spcPts val="3515"/>
              </a:lnSpc>
            </a:pPr>
            <a:r>
              <a:rPr lang="en-US" sz="2197" spc="19">
                <a:solidFill>
                  <a:srgbClr val="000000"/>
                </a:solidFill>
                <a:latin typeface="Open Sans"/>
                <a:ea typeface="Open Sans"/>
                <a:cs typeface="Open Sans"/>
                <a:sym typeface="Open Sans"/>
              </a:rPr>
              <a:t>Parfait pour les projets légers et faciles à maintenir.</a:t>
            </a:r>
          </a:p>
          <a:p>
            <a:pPr algn="just">
              <a:lnSpc>
                <a:spcPts val="3515"/>
              </a:lnSpc>
            </a:pPr>
            <a:endParaRPr lang="en-US" sz="2197" spc="19">
              <a:solidFill>
                <a:srgbClr val="000000"/>
              </a:solidFill>
              <a:latin typeface="Open Sans"/>
              <a:ea typeface="Open Sans"/>
              <a:cs typeface="Open Sans"/>
              <a:sym typeface="Open Sans"/>
            </a:endParaRPr>
          </a:p>
          <a:p>
            <a:pPr algn="just">
              <a:lnSpc>
                <a:spcPts val="3515"/>
              </a:lnSpc>
            </a:pPr>
            <a:r>
              <a:rPr lang="en-US" sz="2197" u="sng" spc="19">
                <a:solidFill>
                  <a:srgbClr val="FF3131"/>
                </a:solidFill>
                <a:latin typeface="Open Sans"/>
                <a:ea typeface="Open Sans"/>
                <a:cs typeface="Open Sans"/>
                <a:sym typeface="Open Sans"/>
              </a:rPr>
              <a:t>✔ Performance et légèreté :</a:t>
            </a:r>
          </a:p>
          <a:p>
            <a:pPr algn="just">
              <a:lnSpc>
                <a:spcPts val="3515"/>
              </a:lnSpc>
            </a:pPr>
            <a:r>
              <a:rPr lang="en-US" sz="2197" spc="20">
                <a:solidFill>
                  <a:srgbClr val="000000"/>
                </a:solidFill>
                <a:latin typeface="Open Sans"/>
                <a:ea typeface="Open Sans"/>
                <a:cs typeface="Open Sans"/>
                <a:sym typeface="Open Sans"/>
              </a:rPr>
              <a:t>Un framework très léger, adapté aux sites rapides et optimisés.</a:t>
            </a:r>
          </a:p>
        </p:txBody>
      </p:sp>
      <p:sp>
        <p:nvSpPr>
          <p:cNvPr id="14" name="TextBox 14"/>
          <p:cNvSpPr txBox="1"/>
          <p:nvPr/>
        </p:nvSpPr>
        <p:spPr>
          <a:xfrm>
            <a:off x="17165159" y="9747348"/>
            <a:ext cx="812367" cy="281200"/>
          </a:xfrm>
          <a:prstGeom prst="rect">
            <a:avLst/>
          </a:prstGeom>
        </p:spPr>
        <p:txBody>
          <a:bodyPr lIns="0" tIns="0" rIns="0" bIns="0" rtlCol="0" anchor="t">
            <a:spAutoFit/>
          </a:bodyPr>
          <a:lstStyle/>
          <a:p>
            <a:pPr algn="r">
              <a:lnSpc>
                <a:spcPts val="2357"/>
              </a:lnSpc>
            </a:pPr>
            <a:r>
              <a:rPr lang="en-US" sz="1309" b="1" spc="12">
                <a:solidFill>
                  <a:srgbClr val="010101"/>
                </a:solidFill>
                <a:latin typeface="Open Sans Bold"/>
                <a:ea typeface="Open Sans Bold"/>
                <a:cs typeface="Open Sans Bold"/>
                <a:sym typeface="Open Sans Bold"/>
              </a:rPr>
              <a:t>9</a:t>
            </a:r>
          </a:p>
        </p:txBody>
      </p:sp>
      <p:sp>
        <p:nvSpPr>
          <p:cNvPr id="15" name="TextBox 15"/>
          <p:cNvSpPr txBox="1"/>
          <p:nvPr/>
        </p:nvSpPr>
        <p:spPr>
          <a:xfrm>
            <a:off x="702455" y="344551"/>
            <a:ext cx="652490" cy="474599"/>
          </a:xfrm>
          <a:prstGeom prst="rect">
            <a:avLst/>
          </a:prstGeom>
        </p:spPr>
        <p:txBody>
          <a:bodyPr lIns="0" tIns="0" rIns="0" bIns="0" rtlCol="0" anchor="t">
            <a:spAutoFit/>
          </a:bodyPr>
          <a:lstStyle/>
          <a:p>
            <a:pPr marL="0" lvl="0" indent="0" algn="l">
              <a:lnSpc>
                <a:spcPts val="3658"/>
              </a:lnSpc>
              <a:spcBef>
                <a:spcPct val="0"/>
              </a:spcBef>
            </a:pPr>
            <a:r>
              <a:rPr lang="en-US" sz="3100" b="1" u="none" strike="noStrike" spc="-62">
                <a:solidFill>
                  <a:srgbClr val="000000"/>
                </a:solidFill>
                <a:latin typeface="Cocomat Pro Bold"/>
                <a:ea typeface="Cocomat Pro Bold"/>
                <a:cs typeface="Cocomat Pro Bold"/>
                <a:sym typeface="Cocomat Pro Bold"/>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grpSp>
        <p:nvGrpSpPr>
          <p:cNvPr id="2" name="Group 2"/>
          <p:cNvGrpSpPr/>
          <p:nvPr/>
        </p:nvGrpSpPr>
        <p:grpSpPr>
          <a:xfrm>
            <a:off x="0" y="-472"/>
            <a:ext cx="6768300" cy="1312616"/>
            <a:chOff x="0" y="0"/>
            <a:chExt cx="1782597" cy="345710"/>
          </a:xfrm>
        </p:grpSpPr>
        <p:sp>
          <p:nvSpPr>
            <p:cNvPr id="3" name="Freeform 3"/>
            <p:cNvSpPr/>
            <p:nvPr/>
          </p:nvSpPr>
          <p:spPr>
            <a:xfrm>
              <a:off x="0" y="0"/>
              <a:ext cx="1782597" cy="345710"/>
            </a:xfrm>
            <a:custGeom>
              <a:avLst/>
              <a:gdLst/>
              <a:ahLst/>
              <a:cxnLst/>
              <a:rect l="l" t="t" r="r" b="b"/>
              <a:pathLst>
                <a:path w="1782597" h="345710">
                  <a:moveTo>
                    <a:pt x="0" y="0"/>
                  </a:moveTo>
                  <a:lnTo>
                    <a:pt x="1782597" y="0"/>
                  </a:lnTo>
                  <a:lnTo>
                    <a:pt x="1782597" y="345710"/>
                  </a:lnTo>
                  <a:lnTo>
                    <a:pt x="0" y="345710"/>
                  </a:lnTo>
                  <a:close/>
                </a:path>
              </a:pathLst>
            </a:custGeom>
            <a:solidFill>
              <a:srgbClr val="F8D67F"/>
            </a:solidFill>
          </p:spPr>
        </p:sp>
        <p:sp>
          <p:nvSpPr>
            <p:cNvPr id="4" name="TextBox 4"/>
            <p:cNvSpPr txBox="1"/>
            <p:nvPr/>
          </p:nvSpPr>
          <p:spPr>
            <a:xfrm>
              <a:off x="0" y="-38100"/>
              <a:ext cx="1782597" cy="38381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768300" y="0"/>
            <a:ext cx="11519700" cy="1312145"/>
            <a:chOff x="0" y="0"/>
            <a:chExt cx="1784703" cy="203286"/>
          </a:xfrm>
        </p:grpSpPr>
        <p:sp>
          <p:nvSpPr>
            <p:cNvPr id="6" name="Freeform 6"/>
            <p:cNvSpPr/>
            <p:nvPr/>
          </p:nvSpPr>
          <p:spPr>
            <a:xfrm>
              <a:off x="0" y="0"/>
              <a:ext cx="1784703" cy="203286"/>
            </a:xfrm>
            <a:custGeom>
              <a:avLst/>
              <a:gdLst/>
              <a:ahLst/>
              <a:cxnLst/>
              <a:rect l="l" t="t" r="r" b="b"/>
              <a:pathLst>
                <a:path w="1784703" h="203286">
                  <a:moveTo>
                    <a:pt x="0" y="0"/>
                  </a:moveTo>
                  <a:lnTo>
                    <a:pt x="1784703" y="0"/>
                  </a:lnTo>
                  <a:lnTo>
                    <a:pt x="1784703" y="203286"/>
                  </a:lnTo>
                  <a:lnTo>
                    <a:pt x="0" y="203286"/>
                  </a:lnTo>
                  <a:close/>
                </a:path>
              </a:pathLst>
            </a:custGeom>
            <a:solidFill>
              <a:srgbClr val="F1E6DA"/>
            </a:solidFill>
            <a:ln w="12700">
              <a:solidFill>
                <a:srgbClr val="000000"/>
              </a:solidFill>
            </a:ln>
          </p:spPr>
        </p:sp>
      </p:grpSp>
      <p:sp>
        <p:nvSpPr>
          <p:cNvPr id="7" name="TextBox 7"/>
          <p:cNvSpPr txBox="1"/>
          <p:nvPr/>
        </p:nvSpPr>
        <p:spPr>
          <a:xfrm>
            <a:off x="1630341" y="2007589"/>
            <a:ext cx="6079935" cy="474599"/>
          </a:xfrm>
          <a:prstGeom prst="rect">
            <a:avLst/>
          </a:prstGeom>
        </p:spPr>
        <p:txBody>
          <a:bodyPr lIns="0" tIns="0" rIns="0" bIns="0" rtlCol="0" anchor="t">
            <a:spAutoFit/>
          </a:bodyPr>
          <a:lstStyle/>
          <a:p>
            <a:pPr marL="0" lvl="0" indent="0" algn="l">
              <a:lnSpc>
                <a:spcPts val="3658"/>
              </a:lnSpc>
            </a:pPr>
            <a:r>
              <a:rPr lang="en-US" sz="3100" b="1" spc="-62">
                <a:solidFill>
                  <a:srgbClr val="000000"/>
                </a:solidFill>
                <a:latin typeface="Cocomat Pro Bold"/>
                <a:ea typeface="Cocomat Pro Bold"/>
                <a:cs typeface="Cocomat Pro Bold"/>
                <a:sym typeface="Cocomat Pro Bold"/>
              </a:rPr>
              <a:t>CONCLUSION</a:t>
            </a:r>
          </a:p>
        </p:txBody>
      </p:sp>
      <p:sp>
        <p:nvSpPr>
          <p:cNvPr id="8" name="TextBox 8"/>
          <p:cNvSpPr txBox="1"/>
          <p:nvPr/>
        </p:nvSpPr>
        <p:spPr>
          <a:xfrm>
            <a:off x="1288967" y="2007589"/>
            <a:ext cx="341374" cy="474599"/>
          </a:xfrm>
          <a:prstGeom prst="rect">
            <a:avLst/>
          </a:prstGeom>
        </p:spPr>
        <p:txBody>
          <a:bodyPr lIns="0" tIns="0" rIns="0" bIns="0" rtlCol="0" anchor="t">
            <a:spAutoFit/>
          </a:bodyPr>
          <a:lstStyle/>
          <a:p>
            <a:pPr marL="0" lvl="0" indent="0" algn="l">
              <a:lnSpc>
                <a:spcPts val="3657"/>
              </a:lnSpc>
            </a:pPr>
            <a:r>
              <a:rPr lang="en-US" sz="3099" b="1" spc="-61">
                <a:solidFill>
                  <a:srgbClr val="000000"/>
                </a:solidFill>
                <a:latin typeface="Cocomat Pro Bold"/>
                <a:ea typeface="Cocomat Pro Bold"/>
                <a:cs typeface="Cocomat Pro Bold"/>
                <a:sym typeface="Cocomat Pro Bold"/>
              </a:rPr>
              <a:t>8.</a:t>
            </a:r>
          </a:p>
        </p:txBody>
      </p:sp>
      <p:sp>
        <p:nvSpPr>
          <p:cNvPr id="9" name="TextBox 9"/>
          <p:cNvSpPr txBox="1"/>
          <p:nvPr/>
        </p:nvSpPr>
        <p:spPr>
          <a:xfrm>
            <a:off x="17622141" y="9766835"/>
            <a:ext cx="355385" cy="261712"/>
          </a:xfrm>
          <a:prstGeom prst="rect">
            <a:avLst/>
          </a:prstGeom>
        </p:spPr>
        <p:txBody>
          <a:bodyPr lIns="0" tIns="0" rIns="0" bIns="0" rtlCol="0" anchor="t">
            <a:spAutoFit/>
          </a:bodyPr>
          <a:lstStyle/>
          <a:p>
            <a:pPr algn="r">
              <a:lnSpc>
                <a:spcPts val="2237"/>
              </a:lnSpc>
            </a:pPr>
            <a:r>
              <a:rPr lang="en-US" sz="1242" b="1" spc="11">
                <a:solidFill>
                  <a:srgbClr val="010101"/>
                </a:solidFill>
                <a:latin typeface="Open Sans Bold"/>
                <a:ea typeface="Open Sans Bold"/>
                <a:cs typeface="Open Sans Bold"/>
                <a:sym typeface="Open Sans Bold"/>
              </a:rPr>
              <a:t>10</a:t>
            </a:r>
          </a:p>
        </p:txBody>
      </p:sp>
      <p:sp>
        <p:nvSpPr>
          <p:cNvPr id="10" name="TextBox 10"/>
          <p:cNvSpPr txBox="1"/>
          <p:nvPr/>
        </p:nvSpPr>
        <p:spPr>
          <a:xfrm>
            <a:off x="570741" y="2779327"/>
            <a:ext cx="16688559" cy="3265536"/>
          </a:xfrm>
          <a:prstGeom prst="rect">
            <a:avLst/>
          </a:prstGeom>
        </p:spPr>
        <p:txBody>
          <a:bodyPr lIns="0" tIns="0" rIns="0" bIns="0" rtlCol="0" anchor="t">
            <a:spAutoFit/>
          </a:bodyPr>
          <a:lstStyle/>
          <a:p>
            <a:pPr algn="l">
              <a:lnSpc>
                <a:spcPts val="3234"/>
              </a:lnSpc>
            </a:pPr>
            <a:r>
              <a:rPr lang="en-US" sz="2310" spc="20">
                <a:solidFill>
                  <a:srgbClr val="000000"/>
                </a:solidFill>
                <a:latin typeface="Open Sans"/>
                <a:ea typeface="Open Sans"/>
                <a:cs typeface="Open Sans"/>
                <a:sym typeface="Open Sans"/>
              </a:rPr>
              <a:t>Au final, l’ingéniosité de Pico.css réside dans sa capacité à transformer la logique sémantique du HTML en un véritable moteur de mise en forme, grâce à une organisation méthodique des rôles joués par chaque groupe d’éléments.</a:t>
            </a:r>
          </a:p>
          <a:p>
            <a:pPr algn="l">
              <a:lnSpc>
                <a:spcPts val="3234"/>
              </a:lnSpc>
            </a:pPr>
            <a:r>
              <a:rPr lang="en-US" sz="2310" spc="20">
                <a:solidFill>
                  <a:srgbClr val="000000"/>
                </a:solidFill>
                <a:latin typeface="Open Sans"/>
                <a:ea typeface="Open Sans"/>
                <a:cs typeface="Open Sans"/>
                <a:sym typeface="Open Sans"/>
              </a:rPr>
              <a:t>Synthèse finale :</a:t>
            </a:r>
          </a:p>
          <a:p>
            <a:pPr algn="l">
              <a:lnSpc>
                <a:spcPts val="3234"/>
              </a:lnSpc>
            </a:pPr>
            <a:r>
              <a:rPr lang="en-US" sz="2310" spc="20">
                <a:solidFill>
                  <a:srgbClr val="000000"/>
                </a:solidFill>
                <a:latin typeface="Open Sans"/>
                <a:ea typeface="Open Sans"/>
                <a:cs typeface="Open Sans"/>
                <a:sym typeface="Open Sans"/>
              </a:rPr>
              <a:t> En orchestrant ainsi chaque catégorie de balises, Pico.css ne se contente pas d’embellir le HTML : il démontre qu’un design professionnel peut émerger exclusivement de la structure native du document. Cette philosophie, à la fois minimaliste et profondément technique, prouve qu’un framework peut être puissant précisément parce qu’il en fait moins.</a:t>
            </a:r>
          </a:p>
          <a:p>
            <a:pPr algn="l">
              <a:lnSpc>
                <a:spcPts val="3234"/>
              </a:lnSpc>
            </a:pPr>
            <a:r>
              <a:rPr lang="en-US" sz="2310" spc="21">
                <a:solidFill>
                  <a:srgbClr val="000000"/>
                </a:solidFill>
                <a:latin typeface="Open Sans"/>
                <a:ea typeface="Open Sans"/>
                <a:cs typeface="Open Sans"/>
                <a:sym typeface="Open Sans"/>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rot="-13769">
            <a:off x="6311014" y="5509475"/>
            <a:ext cx="7946294" cy="430936"/>
          </a:xfrm>
          <a:prstGeom prst="rect">
            <a:avLst/>
          </a:prstGeom>
        </p:spPr>
        <p:txBody>
          <a:bodyPr lIns="0" tIns="0" rIns="0" bIns="0" rtlCol="0" anchor="t">
            <a:spAutoFit/>
          </a:bodyPr>
          <a:lstStyle/>
          <a:p>
            <a:pPr marL="0" lvl="0" indent="0" algn="just">
              <a:lnSpc>
                <a:spcPts val="3454"/>
              </a:lnSpc>
              <a:spcBef>
                <a:spcPct val="0"/>
              </a:spcBef>
            </a:pPr>
            <a:r>
              <a:rPr lang="en-US" sz="2785" spc="551">
                <a:solidFill>
                  <a:srgbClr val="000000"/>
                </a:solidFill>
                <a:latin typeface="Open Sans"/>
                <a:ea typeface="Open Sans"/>
                <a:cs typeface="Open Sans"/>
                <a:sym typeface="Open Sans"/>
              </a:rPr>
              <a:t>LIEN:PICO.CSS:</a:t>
            </a:r>
          </a:p>
        </p:txBody>
      </p:sp>
      <p:sp>
        <p:nvSpPr>
          <p:cNvPr id="4" name="AutoShape 4"/>
          <p:cNvSpPr/>
          <p:nvPr/>
        </p:nvSpPr>
        <p:spPr>
          <a:xfrm>
            <a:off x="4467077" y="5256569"/>
            <a:ext cx="13820923" cy="0"/>
          </a:xfrm>
          <a:prstGeom prst="line">
            <a:avLst/>
          </a:prstGeom>
          <a:ln w="57150" cap="flat">
            <a:solidFill>
              <a:srgbClr val="000000"/>
            </a:solidFill>
            <a:prstDash val="solid"/>
            <a:headEnd type="none" w="sm" len="sm"/>
            <a:tailEnd type="none" w="sm" len="sm"/>
          </a:ln>
        </p:spPr>
      </p:sp>
      <p:sp>
        <p:nvSpPr>
          <p:cNvPr id="5" name="Freeform 5"/>
          <p:cNvSpPr/>
          <p:nvPr/>
        </p:nvSpPr>
        <p:spPr>
          <a:xfrm>
            <a:off x="6310221" y="4147328"/>
            <a:ext cx="660375" cy="862723"/>
          </a:xfrm>
          <a:custGeom>
            <a:avLst/>
            <a:gdLst/>
            <a:ahLst/>
            <a:cxnLst/>
            <a:rect l="l" t="t" r="r" b="b"/>
            <a:pathLst>
              <a:path w="660375" h="862723">
                <a:moveTo>
                  <a:pt x="0" y="0"/>
                </a:moveTo>
                <a:lnTo>
                  <a:pt x="660376" y="0"/>
                </a:lnTo>
                <a:lnTo>
                  <a:pt x="660376" y="862723"/>
                </a:lnTo>
                <a:lnTo>
                  <a:pt x="0" y="86272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TextBox 6"/>
          <p:cNvSpPr txBox="1"/>
          <p:nvPr/>
        </p:nvSpPr>
        <p:spPr>
          <a:xfrm rot="-13769">
            <a:off x="10075859" y="5509475"/>
            <a:ext cx="7946294" cy="430936"/>
          </a:xfrm>
          <a:prstGeom prst="rect">
            <a:avLst/>
          </a:prstGeom>
        </p:spPr>
        <p:txBody>
          <a:bodyPr lIns="0" tIns="0" rIns="0" bIns="0" rtlCol="0" anchor="t">
            <a:spAutoFit/>
          </a:bodyPr>
          <a:lstStyle/>
          <a:p>
            <a:pPr marL="0" lvl="0" indent="0" algn="just">
              <a:lnSpc>
                <a:spcPts val="3454"/>
              </a:lnSpc>
              <a:spcBef>
                <a:spcPct val="0"/>
              </a:spcBef>
            </a:pPr>
            <a:r>
              <a:rPr lang="en-US" sz="2785" b="1" spc="551">
                <a:solidFill>
                  <a:srgbClr val="000000"/>
                </a:solidFill>
                <a:latin typeface="Open Sans Bold"/>
                <a:ea typeface="Open Sans Bold"/>
                <a:cs typeface="Open Sans Bold"/>
                <a:sym typeface="Open Sans Bold"/>
              </a:rPr>
              <a:t>HTTPS://PICOCSS.COM/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1390</Words>
  <Application>Microsoft Office PowerPoint</Application>
  <PresentationFormat>Personnalisé</PresentationFormat>
  <Paragraphs>177</Paragraphs>
  <Slides>10</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10</vt:i4>
      </vt:variant>
    </vt:vector>
  </HeadingPairs>
  <TitlesOfParts>
    <vt:vector size="19" baseType="lpstr">
      <vt:lpstr>Poppins</vt:lpstr>
      <vt:lpstr>Open Sans Bold</vt:lpstr>
      <vt:lpstr>Cocomat Pro Bold</vt:lpstr>
      <vt:lpstr>Arial</vt:lpstr>
      <vt:lpstr>Open Sans Italics</vt:lpstr>
      <vt:lpstr>Open Sans Bold Italics</vt:lpstr>
      <vt:lpstr>Calibri</vt:lpstr>
      <vt:lpstr>Open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pico.css</dc:title>
  <cp:lastModifiedBy>WINDOWS 10</cp:lastModifiedBy>
  <cp:revision>2</cp:revision>
  <dcterms:created xsi:type="dcterms:W3CDTF">2006-08-16T00:00:00Z</dcterms:created>
  <dcterms:modified xsi:type="dcterms:W3CDTF">2025-12-03T15:47:14Z</dcterms:modified>
  <dc:identifier>DAG5rqiXxB8</dc:identifier>
</cp:coreProperties>
</file>